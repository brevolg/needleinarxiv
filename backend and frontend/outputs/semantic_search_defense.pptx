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2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3aaff6993c4974" /><Relationship Type="http://schemas.openxmlformats.org/officeDocument/2006/relationships/extended-properties" Target="/docProps/app.xml" Id="Ra968c2f92f2a4d08" /><Relationship Type="http://schemas.openxmlformats.org/officeDocument/2006/relationships/officeDocument" Target="/ppt/presentation.xml" Id="R216152ee1d924f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9ccab6a2b44298"/>
  </p:sldMasterIdLst>
  <p:notesMasterIdLst>
    <p:notesMasterId xmlns:r="http://schemas.openxmlformats.org/officeDocument/2006/relationships" r:id="R39f60201f1534348"/>
  </p:notesMasterIdLst>
  <p:sldIdLst>
    <p:sldId xmlns:r="http://schemas.openxmlformats.org/officeDocument/2006/relationships" id="256" r:id="R8398f2c618724cbc"/>
    <p:sldId xmlns:r="http://schemas.openxmlformats.org/officeDocument/2006/relationships" id="257" r:id="R46392e31a87d471d"/>
    <p:sldId xmlns:r="http://schemas.openxmlformats.org/officeDocument/2006/relationships" id="258" r:id="R4d73c5216da74150"/>
    <p:sldId xmlns:r="http://schemas.openxmlformats.org/officeDocument/2006/relationships" id="259" r:id="R13a803c7c74247cb"/>
    <p:sldId xmlns:r="http://schemas.openxmlformats.org/officeDocument/2006/relationships" id="260" r:id="R6793a7f5aa7d46b3"/>
    <p:sldId xmlns:r="http://schemas.openxmlformats.org/officeDocument/2006/relationships" id="261" r:id="R5d1d45e8bb314ed9"/>
    <p:sldId xmlns:r="http://schemas.openxmlformats.org/officeDocument/2006/relationships" id="262" r:id="R17950a7ed58c4e37"/>
    <p:sldId xmlns:r="http://schemas.openxmlformats.org/officeDocument/2006/relationships" id="263" r:id="R91bbc8458f274322"/>
    <p:sldId xmlns:r="http://schemas.openxmlformats.org/officeDocument/2006/relationships" id="264" r:id="R90b0763b65014ce8"/>
    <p:sldId xmlns:r="http://schemas.openxmlformats.org/officeDocument/2006/relationships" id="265" r:id="R9e8c62fd09464702"/>
    <p:sldId xmlns:r="http://schemas.openxmlformats.org/officeDocument/2006/relationships" id="266" r:id="Rd9f6276bec834047"/>
    <p:sldId xmlns:r="http://schemas.openxmlformats.org/officeDocument/2006/relationships" id="267" r:id="Rf55e978d11c54900"/>
    <p:sldId xmlns:r="http://schemas.openxmlformats.org/officeDocument/2006/relationships" id="268" r:id="R19007569159449f7"/>
    <p:sldId xmlns:r="http://schemas.openxmlformats.org/officeDocument/2006/relationships" id="269" r:id="R5327a47f5f014834"/>
    <p:sldId xmlns:r="http://schemas.openxmlformats.org/officeDocument/2006/relationships" id="270" r:id="Rabc18ddeff1b43a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0d4c729ab34331" /><Relationship Type="http://schemas.openxmlformats.org/officeDocument/2006/relationships/slideMaster" Target="/ppt/slideMasters/slideMaster1.xml" Id="R3c9ccab6a2b44298" /><Relationship Type="http://schemas.openxmlformats.org/officeDocument/2006/relationships/notesMaster" Target="/ppt/notesMasters/notesMaster1.xml" Id="R39f60201f1534348" /><Relationship Type="http://schemas.openxmlformats.org/officeDocument/2006/relationships/presProps" Target="/ppt/presProps.xml" Id="R38ff2e10e32944ed" /><Relationship Type="http://schemas.openxmlformats.org/officeDocument/2006/relationships/tableStyles" Target="/ppt/tableStyles.xml" Id="Rbf305cc04e5b416b" /><Relationship Type="http://schemas.openxmlformats.org/officeDocument/2006/relationships/slide" Target="/ppt/slides/slide1.xml" Id="R8398f2c618724cbc" /><Relationship Type="http://schemas.openxmlformats.org/officeDocument/2006/relationships/slide" Target="/ppt/slides/slide2.xml" Id="R46392e31a87d471d" /><Relationship Type="http://schemas.openxmlformats.org/officeDocument/2006/relationships/slide" Target="/ppt/slides/slide3.xml" Id="R4d73c5216da74150" /><Relationship Type="http://schemas.openxmlformats.org/officeDocument/2006/relationships/slide" Target="/ppt/slides/slide4.xml" Id="R13a803c7c74247cb" /><Relationship Type="http://schemas.openxmlformats.org/officeDocument/2006/relationships/slide" Target="/ppt/slides/slide5.xml" Id="R6793a7f5aa7d46b3" /><Relationship Type="http://schemas.openxmlformats.org/officeDocument/2006/relationships/slide" Target="/ppt/slides/slide6.xml" Id="R5d1d45e8bb314ed9" /><Relationship Type="http://schemas.openxmlformats.org/officeDocument/2006/relationships/slide" Target="/ppt/slides/slide7.xml" Id="R17950a7ed58c4e37" /><Relationship Type="http://schemas.openxmlformats.org/officeDocument/2006/relationships/slide" Target="/ppt/slides/slide8.xml" Id="R91bbc8458f274322" /><Relationship Type="http://schemas.openxmlformats.org/officeDocument/2006/relationships/slide" Target="/ppt/slides/slide9.xml" Id="R90b0763b65014ce8" /><Relationship Type="http://schemas.openxmlformats.org/officeDocument/2006/relationships/slide" Target="/ppt/slides/slide10.xml" Id="R9e8c62fd09464702" /><Relationship Type="http://schemas.openxmlformats.org/officeDocument/2006/relationships/slide" Target="/ppt/slides/slide11.xml" Id="Rd9f6276bec834047" /><Relationship Type="http://schemas.openxmlformats.org/officeDocument/2006/relationships/slide" Target="/ppt/slides/slide12.xml" Id="Rf55e978d11c54900" /><Relationship Type="http://schemas.openxmlformats.org/officeDocument/2006/relationships/slide" Target="/ppt/slides/slide13.xml" Id="R19007569159449f7" /><Relationship Type="http://schemas.openxmlformats.org/officeDocument/2006/relationships/slide" Target="/ppt/slides/slide14.xml" Id="R5327a47f5f014834" /><Relationship Type="http://schemas.openxmlformats.org/officeDocument/2006/relationships/slide" Target="/ppt/slides/slide15.xml" Id="Rabc18ddeff1b43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1b7f079ad849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c7c3d0c9294789" /><Relationship Type="http://schemas.openxmlformats.org/officeDocument/2006/relationships/notesMaster" Target="/ppt/notesMasters/notesMaster1.xml" Id="R9685fdd7956645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fd127bb35a43ba" /><Relationship Type="http://schemas.openxmlformats.org/officeDocument/2006/relationships/notesMaster" Target="/ppt/notesMasters/notesMaster1.xml" Id="R1de68746cc2044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4b2a0b22e64ac1" /><Relationship Type="http://schemas.openxmlformats.org/officeDocument/2006/relationships/notesMaster" Target="/ppt/notesMasters/notesMaster1.xml" Id="Rad9033e5c5d544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acadb2b96b4164" /><Relationship Type="http://schemas.openxmlformats.org/officeDocument/2006/relationships/notesMaster" Target="/ppt/notesMasters/notesMaster1.xml" Id="Rf566031fc3594e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7a8412aa1046fa" /><Relationship Type="http://schemas.openxmlformats.org/officeDocument/2006/relationships/notesMaster" Target="/ppt/notesMasters/notesMaster1.xml" Id="R7687ed54b4d343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7e29ae7fb047ca" /><Relationship Type="http://schemas.openxmlformats.org/officeDocument/2006/relationships/notesMaster" Target="/ppt/notesMasters/notesMaster1.xml" Id="R9fe312991adf4e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38602520a24b31" /><Relationship Type="http://schemas.openxmlformats.org/officeDocument/2006/relationships/notesMaster" Target="/ppt/notesMasters/notesMaster1.xml" Id="R2e9be88456f846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b1fbeea71a4ee9" /><Relationship Type="http://schemas.openxmlformats.org/officeDocument/2006/relationships/notesMaster" Target="/ppt/notesMasters/notesMaster1.xml" Id="R85792949c9994f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e5045564ef45bb" /><Relationship Type="http://schemas.openxmlformats.org/officeDocument/2006/relationships/notesMaster" Target="/ppt/notesMasters/notesMaster1.xml" Id="Rbfc643c8366b43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3d6c48ecb04a5e" /><Relationship Type="http://schemas.openxmlformats.org/officeDocument/2006/relationships/notesMaster" Target="/ppt/notesMasters/notesMaster1.xml" Id="Rffb7ec352b5b4d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0f86e356b749b5" /><Relationship Type="http://schemas.openxmlformats.org/officeDocument/2006/relationships/notesMaster" Target="/ppt/notesMasters/notesMaster1.xml" Id="R6f916f4694ff49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f128cd7e9a34317" /><Relationship Type="http://schemas.openxmlformats.org/officeDocument/2006/relationships/notesMaster" Target="/ppt/notesMasters/notesMaster1.xml" Id="R839d025906a549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8803dc9eea4cc4" /><Relationship Type="http://schemas.openxmlformats.org/officeDocument/2006/relationships/notesMaster" Target="/ppt/notesMasters/notesMaster1.xml" Id="R89548e9b4e8541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d314c2eb3d470d" /><Relationship Type="http://schemas.openxmlformats.org/officeDocument/2006/relationships/notesMaster" Target="/ppt/notesMasters/notesMaster1.xml" Id="Rb1c0d54a0caa4e6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fe63dfa7274049" /><Relationship Type="http://schemas.openxmlformats.org/officeDocument/2006/relationships/notesMaster" Target="/ppt/notesMasters/notesMaster1.xml" Id="Re371414e9bcf4e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8688a7fce42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9c0d07f0164d8d" /><Relationship Type="http://schemas.openxmlformats.org/officeDocument/2006/relationships/slideLayout" Target="/ppt/slideLayouts/slideLayout1.xml" Id="R44ecda0753cc45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ecda0753cc45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0ddd963e9496c" /><Relationship Type="http://schemas.openxmlformats.org/officeDocument/2006/relationships/notesSlide" Target="/ppt/notesSlides/notesSlide1.xml" Id="R5f454ed5456643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25ca729f24f06" /><Relationship Type="http://schemas.openxmlformats.org/officeDocument/2006/relationships/notesSlide" Target="/ppt/notesSlides/notesSlide2.xml" Id="R0416c6bb66e241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6af7abff64ef5" /><Relationship Type="http://schemas.openxmlformats.org/officeDocument/2006/relationships/notesSlide" Target="/ppt/notesSlides/notesSlide3.xml" Id="Ra1ed6c79fba541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6df79b646f4b28" /><Relationship Type="http://schemas.openxmlformats.org/officeDocument/2006/relationships/chart" Target="/ppt/slides/charts/chart1.xml" Id="Rc38eb02194d248e4" /><Relationship Type="http://schemas.openxmlformats.org/officeDocument/2006/relationships/notesSlide" Target="/ppt/notesSlides/notesSlide4.xml" Id="R5a8683fd7d2142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3496ea55146bf" /><Relationship Type="http://schemas.openxmlformats.org/officeDocument/2006/relationships/notesSlide" Target="/ppt/notesSlides/notesSlide5.xml" Id="R8a38228b111142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f3ed57f0c4687" /><Relationship Type="http://schemas.openxmlformats.org/officeDocument/2006/relationships/notesSlide" Target="/ppt/notesSlides/notesSlide6.xml" Id="Redf162a7ff2a42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4ca89c3424643" /><Relationship Type="http://schemas.openxmlformats.org/officeDocument/2006/relationships/notesSlide" Target="/ppt/notesSlides/notesSlide7.xml" Id="R8009d6b6cc8844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b36aed11d43ff" /><Relationship Type="http://schemas.openxmlformats.org/officeDocument/2006/relationships/notesSlide" Target="/ppt/notesSlides/notesSlide8.xml" Id="Re83cab847de446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adb571ddd4678" /><Relationship Type="http://schemas.openxmlformats.org/officeDocument/2006/relationships/notesSlide" Target="/ppt/notesSlides/notesSlide9.xml" Id="R3d04e7490de848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c1bb6a8644ae1" /><Relationship Type="http://schemas.openxmlformats.org/officeDocument/2006/relationships/notesSlide" Target="/ppt/notesSlides/notesSlide10.xml" Id="R71ce602eecd345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ad4016681424b" /><Relationship Type="http://schemas.openxmlformats.org/officeDocument/2006/relationships/chart" Target="/ppt/slides/charts/chart2.xml" Id="Ra5b92f404f744705" /><Relationship Type="http://schemas.openxmlformats.org/officeDocument/2006/relationships/notesSlide" Target="/ppt/notesSlides/notesSlide11.xml" Id="Ra282ab352e4641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ad208c9784329" /><Relationship Type="http://schemas.openxmlformats.org/officeDocument/2006/relationships/notesSlide" Target="/ppt/notesSlides/notesSlide12.xml" Id="R34a0cf5ca3484e3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e11fed11f4be9" /><Relationship Type="http://schemas.openxmlformats.org/officeDocument/2006/relationships/notesSlide" Target="/ppt/notesSlides/notesSlide13.xml" Id="Rcff4014328ad48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47ac7a0aa4b21" /><Relationship Type="http://schemas.openxmlformats.org/officeDocument/2006/relationships/notesSlide" Target="/ppt/notesSlides/notesSlide14.xml" Id="R41c5960df7794e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4238456cc418b" /><Relationship Type="http://schemas.openxmlformats.org/officeDocument/2006/relationships/notesSlide" Target="/ppt/notesSlides/notesSlide15.xml" Id="R405fbe54447d433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Документы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9"/>
              <c:pt idx="0">
                <c:v>Slack</c:v>
              </c:pt>
              <c:pt idx="1">
                <c:v>Gmail</c:v>
              </c:pt>
              <c:pt idx="2">
                <c:v>Linear</c:v>
              </c:pt>
              <c:pt idx="3">
                <c:v>GDrive</c:v>
              </c:pt>
              <c:pt idx="4">
                <c:v>HubSpot</c:v>
              </c:pt>
              <c:pt idx="5">
                <c:v>Fireflies</c:v>
              </c:pt>
              <c:pt idx="6">
                <c:v>GitHub</c:v>
              </c:pt>
              <c:pt idx="7">
                <c:v>Jira</c:v>
              </c:pt>
              <c:pt idx="8">
                <c:v>Confluence</c:v>
              </c:pt>
            </c:strLit>
          </c:cat>
          <c:val>
            <c:numLit>
              <c:formatCode>General</c:formatCode>
              <c:ptCount val="9"/>
              <c:pt idx="0">
                <c:v>285605</c:v>
              </c:pt>
              <c:pt idx="1">
                <c:v>121390</c:v>
              </c:pt>
              <c:pt idx="2">
                <c:v>35308</c:v>
              </c:pt>
              <c:pt idx="3">
                <c:v>25107</c:v>
              </c:pt>
              <c:pt idx="4">
                <c:v>15017</c:v>
              </c:pt>
              <c:pt idx="5">
                <c:v>10173</c:v>
              </c:pt>
              <c:pt idx="6">
                <c:v>8052</c:v>
              </c:pt>
              <c:pt idx="7">
                <c:v>6120</c:v>
              </c:pt>
              <c:pt idx="8">
                <c:v>5189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nDCG@10</c:v>
              </c:pt>
              <c:pt idx="1">
                <c:v>Recall@10</c:v>
              </c:pt>
              <c:pt idx="2">
                <c:v>MAP@10</c:v>
              </c:pt>
              <c:pt idx="3">
                <c:v>MRR@10</c:v>
              </c:pt>
            </c:strLit>
          </c:cat>
          <c:val>
            <c:numLit>
              <c:formatCode>General</c:formatCode>
              <c:ptCount val="4"/>
              <c:pt idx="0">
                <c:v>0.138745</c:v>
              </c:pt>
              <c:pt idx="1">
                <c:v>0.168584</c:v>
              </c:pt>
              <c:pt idx="2">
                <c:v>0.118296</c:v>
              </c:pt>
              <c:pt idx="3">
                <c:v>0.149909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2C82476-0613-4F50-A02D-2FEC41A1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16B"/>
                </a:solidFill>
              </a:defRPr>
            </a:pPr>
            <a:r>
              <a:rPr sz="1275" b="1">
                <a:solidFill>
                  <a:srgbClr val="5B616B"/>
                </a:solidFill>
              </a:rPr>
              <a:t>DEEP LEARNING FOR SEARCH · SUMMER 2026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EC238E1-FD6C-4675-A879-2FCA09DE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Семантический поиск</a:t>
            </a:r>
          </a:p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по 511 961 документу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A1B71DD-60FE-4CCE-A24E-A7C22D7D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Dense retrieval + BM25 + RRF · FastAPI · Qdrant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6095810-3BDE-4949-AB09-9903581C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22383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7F83D2F1-E225-48E6-9E0E-83607266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16B"/>
                </a:solidFill>
              </a:defRPr>
            </a:pPr>
            <a:r>
              <a:rPr sz="1275" b="0">
                <a:solidFill>
                  <a:srgbClr val="5B616B"/>
                </a:solidFill>
              </a:rPr>
              <a:t>Innopolis University · 15 July 2026</a:t>
            </a:r>
          </a:p>
        </p:txBody>
      </p:sp>
      <p:sp>
        <p:nvSpPr>
          <p:cNvPr id="6" name="cover-page">
            <a:extLst xmlns:a="http://schemas.openxmlformats.org/drawingml/2006/main">
              <a:ext uri="{FF2B5EF4-FFF2-40B4-BE49-F238E27FC236}">
                <a16:creationId xmlns:a16="http://schemas.microsoft.com/office/drawing/2014/main" id="{65C3C7CF-64A7-44BC-B47C-4DD845A4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16B"/>
                </a:solidFill>
              </a:defRPr>
            </a:pPr>
            <a:r>
              <a:rPr sz="825" b="0">
                <a:solidFill>
                  <a:srgbClr val="5B616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511014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E808F370-251B-4076-8074-1420BC12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SEMANTIC SEARCH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10D9F24-0FBB-4F67-9B9E-64B8B821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Проблема — смысл, а не словарь</a:t>
            </a:r>
          </a:p>
        </p:txBody>
      </p:sp>
      <p:sp>
        <p:nvSpPr>
          <p:cNvPr id="3" name="rule-42-148">
            <a:extLst xmlns:a="http://schemas.openxmlformats.org/drawingml/2006/main">
              <a:ext uri="{FF2B5EF4-FFF2-40B4-BE49-F238E27FC236}">
                <a16:creationId xmlns:a16="http://schemas.microsoft.com/office/drawing/2014/main" id="{159A8283-F3C5-48FC-9AF9-F4F1D6C4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3A2DFF40-07E5-48CE-8E1C-C583990D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16B"/>
                </a:solidFill>
              </a:defRPr>
            </a:pPr>
            <a:r>
              <a:rPr sz="825" b="0">
                <a:solidFill>
                  <a:srgbClr val="5B616B"/>
                </a:solidFill>
              </a:rPr>
              <a:t>02</a:t>
            </a:r>
          </a:p>
        </p:txBody>
      </p:sp>
      <p:sp>
        <p:nvSpPr>
          <p:cNvPr id="5" name="problem-left-label">
            <a:extLst xmlns:a="http://schemas.openxmlformats.org/drawingml/2006/main">
              <a:ext uri="{FF2B5EF4-FFF2-40B4-BE49-F238E27FC236}">
                <a16:creationId xmlns:a16="http://schemas.microsoft.com/office/drawing/2014/main" id="{D576872C-1344-41B7-BF13-BADAE0C7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16B"/>
                </a:solidFill>
              </a:defRPr>
            </a:pPr>
            <a:r>
              <a:rPr sz="1125" b="1">
                <a:solidFill>
                  <a:srgbClr val="5B616B"/>
                </a:solidFill>
              </a:rPr>
              <a:t>ТОЧНОЕ СОВПАДЕНИЕ</a:t>
            </a:r>
          </a:p>
        </p:txBody>
      </p:sp>
      <p:sp>
        <p:nvSpPr>
          <p:cNvPr id="6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1D4026B8-ADC9-426C-A73C-B1984D3B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Запрос:</a:t>
            </a:r>
          </a:p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«как пережить сбой региона»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Документ:</a:t>
            </a:r>
          </a:p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«EU outage failover plan»</a:t>
            </a:r>
          </a:p>
        </p:txBody>
      </p:sp>
      <p:sp>
        <p:nvSpPr>
          <p:cNvPr id="7" name="problem-left-note">
            <a:extLst xmlns:a="http://schemas.openxmlformats.org/drawingml/2006/main">
              <a:ext uri="{FF2B5EF4-FFF2-40B4-BE49-F238E27FC236}">
                <a16:creationId xmlns:a16="http://schemas.microsoft.com/office/drawing/2014/main" id="{4592AECC-4270-4080-B6C1-0E9BC03A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Ключевые слова расходятся — документ легко пропустить.</a:t>
            </a:r>
          </a:p>
        </p:txBody>
      </p:sp>
      <p:sp>
        <p:nvSpPr>
          <p:cNvPr id="8" name="rule-630-198">
            <a:extLst xmlns:a="http://schemas.openxmlformats.org/drawingml/2006/main">
              <a:ext uri="{FF2B5EF4-FFF2-40B4-BE49-F238E27FC236}">
                <a16:creationId xmlns:a16="http://schemas.microsoft.com/office/drawing/2014/main" id="{65D29494-62E2-4FF8-A5EF-F5A67F7F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859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blem-right-label">
            <a:extLst xmlns:a="http://schemas.openxmlformats.org/drawingml/2006/main">
              <a:ext uri="{FF2B5EF4-FFF2-40B4-BE49-F238E27FC236}">
                <a16:creationId xmlns:a16="http://schemas.microsoft.com/office/drawing/2014/main" id="{BFE026D0-5A91-46CB-A53E-055BB9DD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ГИБРИДНЫЙ ПОИСК</a:t>
            </a:r>
          </a:p>
        </p:txBody>
      </p:sp>
      <p:sp>
        <p:nvSpPr>
          <p:cNvPr id="10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BA495BFB-92BC-40CB-A558-854C9F9F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762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Dense находит</a:t>
            </a:r>
          </a:p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семантическое сходство.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BM25 сохраняет</a:t>
            </a:r>
          </a:p>
          <a:p xmlns:a="http://schemas.openxmlformats.org/drawingml/2006/main">
            <a:pPr algn="l">
              <a:defRPr sz="2325" b="1">
                <a:solidFill>
                  <a:srgbClr val="000000"/>
                </a:solidFill>
              </a:defRPr>
            </a:pPr>
            <a:r>
              <a:rPr sz="2325" b="1">
                <a:solidFill>
                  <a:srgbClr val="000000"/>
                </a:solidFill>
              </a:rPr>
              <a:t>точные термины.</a:t>
            </a:r>
          </a:p>
        </p:txBody>
      </p:sp>
      <p:sp>
        <p:nvSpPr>
          <p:cNvPr id="11" name="problem-right-note">
            <a:extLst xmlns:a="http://schemas.openxmlformats.org/drawingml/2006/main">
              <a:ext uri="{FF2B5EF4-FFF2-40B4-BE49-F238E27FC236}">
                <a16:creationId xmlns:a16="http://schemas.microsoft.com/office/drawing/2014/main" id="{2636F2F1-C9E2-4E90-94C6-FA87FCCD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911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16B"/>
                </a:solidFill>
              </a:defRPr>
            </a:pPr>
            <a:r>
              <a:rPr sz="1500" b="0">
                <a:solidFill>
                  <a:srgbClr val="5B616B"/>
                </a:solidFill>
              </a:rPr>
              <a:t>RRF объединяет два ранжирования без сравнения их score.</a:t>
            </a:r>
          </a:p>
        </p:txBody>
      </p:sp>
      <p:sp>
        <p:nvSpPr>
          <p:cNvPr id="12" name="problem-footer">
            <a:extLst xmlns:a="http://schemas.openxmlformats.org/drawingml/2006/main">
              <a:ext uri="{FF2B5EF4-FFF2-40B4-BE49-F238E27FC236}">
                <a16:creationId xmlns:a16="http://schemas.microsoft.com/office/drawing/2014/main" id="{14957666-C53A-4058-A256-DB09358B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Цель: повысить полноту поиска без потери точных совпадений.</a:t>
            </a:r>
          </a:p>
        </p:txBody>
      </p:sp>
    </p:spTree>
    <p:extLst>
      <p:ext uri="{BB962C8B-B14F-4D97-AF65-F5344CB8AC3E}">
        <p14:creationId xmlns:p14="http://schemas.microsoft.com/office/powerpoint/2010/main" val="2184448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0E6833CF-DE31-40A1-9F18-D4BB4414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КРИТИЧЕСКОЕ УТОЧНЕНИЕ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6DA405F-D422-4484-B0C5-E44A5591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Фактический корпус — EnterpriseRAG, не arXiv</a:t>
            </a:r>
          </a:p>
        </p:txBody>
      </p:sp>
      <p:sp>
        <p:nvSpPr>
          <p:cNvPr id="3" name="rule-42-148">
            <a:extLst xmlns:a="http://schemas.openxmlformats.org/drawingml/2006/main">
              <a:ext uri="{FF2B5EF4-FFF2-40B4-BE49-F238E27FC236}">
                <a16:creationId xmlns:a16="http://schemas.microsoft.com/office/drawing/2014/main" id="{97D2AF93-A681-41FD-9414-4C5FF88A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28E89B1A-1F68-41C7-9AE8-53C1643D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16B"/>
                </a:solidFill>
              </a:defRPr>
            </a:pPr>
            <a:r>
              <a:rPr sz="825" b="0">
                <a:solidFill>
                  <a:srgbClr val="5B616B"/>
                </a:solidFill>
              </a:rPr>
              <a:t>03</a:t>
            </a:r>
          </a:p>
        </p:txBody>
      </p:sp>
      <p:sp>
        <p:nvSpPr>
          <p:cNvPr id="5" name="pdf-panel">
            <a:extLst xmlns:a="http://schemas.openxmlformats.org/drawingml/2006/main">
              <a:ext uri="{FF2B5EF4-FFF2-40B4-BE49-F238E27FC236}">
                <a16:creationId xmlns:a16="http://schemas.microsoft.com/office/drawing/2014/main" id="{B023F822-BB22-4988-A0D5-2A533EF2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label">
            <a:extLst xmlns:a="http://schemas.openxmlformats.org/drawingml/2006/main">
              <a:ext uri="{FF2B5EF4-FFF2-40B4-BE49-F238E27FC236}">
                <a16:creationId xmlns:a16="http://schemas.microsoft.com/office/drawing/2014/main" id="{3479AF6D-51B2-47DC-9C18-42EEFB31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В PDF</a:t>
            </a:r>
          </a:p>
        </p:txBody>
      </p:sp>
      <p:sp>
        <p:nvSpPr>
          <p:cNvPr id="7" name="pdf-title">
            <a:extLst xmlns:a="http://schemas.openxmlformats.org/drawingml/2006/main">
              <a:ext uri="{FF2B5EF4-FFF2-40B4-BE49-F238E27FC236}">
                <a16:creationId xmlns:a16="http://schemas.microsoft.com/office/drawing/2014/main" id="{BD75F254-D669-45F4-ADAE-A83B072F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arXiv</a:t>
            </a:r>
          </a:p>
        </p:txBody>
      </p:sp>
      <p:sp>
        <p:nvSpPr>
          <p:cNvPr id="8" name="pdf-body">
            <a:extLst xmlns:a="http://schemas.openxmlformats.org/drawingml/2006/main">
              <a:ext uri="{FF2B5EF4-FFF2-40B4-BE49-F238E27FC236}">
                <a16:creationId xmlns:a16="http://schemas.microsoft.com/office/drawing/2014/main" id="{0440E6C9-08D4-4206-8913-F9AE07E7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71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Научные статьи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6 категорий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600–700 тыс. объектов</a:t>
            </a:r>
          </a:p>
        </p:txBody>
      </p:sp>
      <p:sp>
        <p:nvSpPr>
          <p:cNvPr id="9" name="not-equal">
            <a:extLst xmlns:a="http://schemas.openxmlformats.org/drawingml/2006/main">
              <a:ext uri="{FF2B5EF4-FFF2-40B4-BE49-F238E27FC236}">
                <a16:creationId xmlns:a16="http://schemas.microsoft.com/office/drawing/2014/main" id="{64C6EC3F-2492-4AF7-B246-ABBF7B3C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048000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3D8DFF"/>
                </a:solidFill>
              </a:defRPr>
            </a:pPr>
            <a:r>
              <a:rPr sz="4200" b="1">
                <a:solidFill>
                  <a:srgbClr val="3D8DFF"/>
                </a:solidFill>
              </a:rPr>
              <a:t>≠</a:t>
            </a:r>
          </a:p>
        </p:txBody>
      </p:sp>
      <p:sp>
        <p:nvSpPr>
          <p:cNvPr id="10" name="actual-panel">
            <a:extLst xmlns:a="http://schemas.openxmlformats.org/drawingml/2006/main">
              <a:ext uri="{FF2B5EF4-FFF2-40B4-BE49-F238E27FC236}">
                <a16:creationId xmlns:a16="http://schemas.microsoft.com/office/drawing/2014/main" id="{B3B77C81-FE71-4575-A250-1BC3CD50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52625"/>
            <a:ext cx="5105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ctual-label">
            <a:extLst xmlns:a="http://schemas.openxmlformats.org/drawingml/2006/main">
              <a:ext uri="{FF2B5EF4-FFF2-40B4-BE49-F238E27FC236}">
                <a16:creationId xmlns:a16="http://schemas.microsoft.com/office/drawing/2014/main" id="{F9DD9093-CFC5-4CEE-9CEC-7855909D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383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В Parquet</a:t>
            </a:r>
          </a:p>
        </p:txBody>
      </p:sp>
      <p:sp>
        <p:nvSpPr>
          <p:cNvPr id="12" name="actual-title">
            <a:extLst xmlns:a="http://schemas.openxmlformats.org/drawingml/2006/main">
              <a:ext uri="{FF2B5EF4-FFF2-40B4-BE49-F238E27FC236}">
                <a16:creationId xmlns:a16="http://schemas.microsoft.com/office/drawing/2014/main" id="{BC3F7CFB-40DD-4B6B-B064-BABD3C65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14625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</a:defRPr>
            </a:pPr>
            <a:r>
              <a:rPr sz="3600" b="1">
                <a:solidFill>
                  <a:srgbClr val="000000"/>
                </a:solidFill>
              </a:rPr>
              <a:t>EnterpriseRAG</a:t>
            </a:r>
          </a:p>
        </p:txBody>
      </p:sp>
      <p:sp>
        <p:nvSpPr>
          <p:cNvPr id="13" name="actual-body">
            <a:extLst xmlns:a="http://schemas.openxmlformats.org/drawingml/2006/main">
              <a:ext uri="{FF2B5EF4-FFF2-40B4-BE49-F238E27FC236}">
                <a16:creationId xmlns:a16="http://schemas.microsoft.com/office/drawing/2014/main" id="{B2F396E0-265F-4FA0-ACC2-B5B1EC42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71875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Корпоративные документы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9 источников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511 961 строк</a:t>
            </a:r>
          </a:p>
        </p:txBody>
      </p:sp>
      <p:sp>
        <p:nvSpPr>
          <p:cNvPr id="14" name="domain-conclusion">
            <a:extLst xmlns:a="http://schemas.openxmlformats.org/drawingml/2006/main">
              <a:ext uri="{FF2B5EF4-FFF2-40B4-BE49-F238E27FC236}">
                <a16:creationId xmlns:a16="http://schemas.microsoft.com/office/drawing/2014/main" id="{9D279A76-444C-46D2-A7E9-A2E44E8E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Код поддерживает оба корпуса; текущая оценка — только на фактических данных.</a:t>
            </a:r>
          </a:p>
        </p:txBody>
      </p:sp>
      <p:sp>
        <p:nvSpPr>
          <p:cNvPr id="15" name="domain-footer">
            <a:extLst xmlns:a="http://schemas.openxmlformats.org/drawingml/2006/main">
              <a:ext uri="{FF2B5EF4-FFF2-40B4-BE49-F238E27FC236}">
                <a16:creationId xmlns:a16="http://schemas.microsoft.com/office/drawing/2014/main" id="{2885522C-92C2-48E4-B718-EA829491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Источник: приложенные PROJEC_1.pdf и Parquet-файлы.</a:t>
            </a:r>
          </a:p>
        </p:txBody>
      </p:sp>
    </p:spTree>
    <p:extLst>
      <p:ext uri="{BB962C8B-B14F-4D97-AF65-F5344CB8AC3E}">
        <p14:creationId xmlns:p14="http://schemas.microsoft.com/office/powerpoint/2010/main" val="26507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2B0777DD-3C63-474B-BF32-159C6BD2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ДАННЫЕ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A207114-EB40-44FE-9E4D-62C3AAFA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Корпус велик и сильно смещён к Slack и Gmail</a:t>
            </a:r>
          </a:p>
        </p:txBody>
      </p:sp>
      <p:sp>
        <p:nvSpPr>
          <p:cNvPr id="3" name="rule-42-148">
            <a:extLst xmlns:a="http://schemas.openxmlformats.org/drawingml/2006/main">
              <a:ext uri="{FF2B5EF4-FFF2-40B4-BE49-F238E27FC236}">
                <a16:creationId xmlns:a16="http://schemas.microsoft.com/office/drawing/2014/main" id="{A9EAF184-6663-4092-AFA7-91846405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DDDFE13F-BBD1-446C-ABEE-B06D6495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16B"/>
                </a:solidFill>
              </a:defRPr>
            </a:pPr>
            <a:r>
              <a:rPr sz="825" b="0">
                <a:solidFill>
                  <a:srgbClr val="5B616B"/>
                </a:solidFill>
              </a:rPr>
              <a:t>04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57200" y="1809750"/>
          <a:ext xmlns:a="http://schemas.openxmlformats.org/drawingml/2006/main" cx="7810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8eb02194d248e4"/>
          </a:graphicData>
        </a:graphic>
      </p:graphicFrame>
      <p:sp>
        <p:nvSpPr>
          <p:cNvPr id="6" name="distribution-callout">
            <a:extLst xmlns:a="http://schemas.openxmlformats.org/drawingml/2006/main">
              <a:ext uri="{FF2B5EF4-FFF2-40B4-BE49-F238E27FC236}">
                <a16:creationId xmlns:a16="http://schemas.microsoft.com/office/drawing/2014/main" id="{A7E013E5-7663-4BE9-8B7D-AA6ACB87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</a:defRPr>
            </a:pPr>
            <a:r>
              <a:rPr sz="4350" b="1">
                <a:solidFill>
                  <a:srgbClr val="3D8DFF"/>
                </a:solidFill>
              </a:rPr>
              <a:t>79,5%</a:t>
            </a:r>
          </a:p>
        </p:txBody>
      </p:sp>
      <p:sp>
        <p:nvSpPr>
          <p:cNvPr id="7" name="distribution-note">
            <a:extLst xmlns:a="http://schemas.openxmlformats.org/drawingml/2006/main">
              <a:ext uri="{FF2B5EF4-FFF2-40B4-BE49-F238E27FC236}">
                <a16:creationId xmlns:a16="http://schemas.microsoft.com/office/drawing/2014/main" id="{9F44993A-5B30-4261-B9DE-0AF371FD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86125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корпуса приходится</a:t>
            </a:r>
          </a:p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на Slack + Gmail</a:t>
            </a:r>
          </a:p>
        </p:txBody>
      </p:sp>
      <p:sp>
        <p:nvSpPr>
          <p:cNvPr id="8" name="distribution-meaning">
            <a:extLst xmlns:a="http://schemas.openxmlformats.org/drawingml/2006/main">
              <a:ext uri="{FF2B5EF4-FFF2-40B4-BE49-F238E27FC236}">
                <a16:creationId xmlns:a16="http://schemas.microsoft.com/office/drawing/2014/main" id="{FDD22809-0E13-4A24-B0FB-A1521B39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9625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Вывод: качество нужно считать и по источникам — общий score может скрыть слабые редкие домены.</a:t>
            </a:r>
          </a:p>
        </p:txBody>
      </p:sp>
      <p:sp>
        <p:nvSpPr>
          <p:cNvPr id="9" name="distribution-footer">
            <a:extLst xmlns:a="http://schemas.openxmlformats.org/drawingml/2006/main">
              <a:ext uri="{FF2B5EF4-FFF2-40B4-BE49-F238E27FC236}">
                <a16:creationId xmlns:a16="http://schemas.microsoft.com/office/drawing/2014/main" id="{B7D8A9E0-136D-44B1-96FF-D5DC859E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Источник: id_mapping_v1.parquet; 511 961 строк.</a:t>
            </a:r>
          </a:p>
        </p:txBody>
      </p:sp>
    </p:spTree>
    <p:extLst>
      <p:ext uri="{BB962C8B-B14F-4D97-AF65-F5344CB8AC3E}">
        <p14:creationId xmlns:p14="http://schemas.microsoft.com/office/powerpoint/2010/main" val="542689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692601F5-E5DD-4517-BA9B-EAA01CD2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ВАЛИДАЦИЯ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7701AE54-184A-410D-ACE8-2F391330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Gold 100%; 30 no-answer — отдельно</a:t>
            </a:r>
          </a:p>
        </p:txBody>
      </p:sp>
      <p:sp>
        <p:nvSpPr>
          <p:cNvPr id="3" name="rule-42-148">
            <a:extLst xmlns:a="http://schemas.openxmlformats.org/drawingml/2006/main">
              <a:ext uri="{FF2B5EF4-FFF2-40B4-BE49-F238E27FC236}">
                <a16:creationId xmlns:a16="http://schemas.microsoft.com/office/drawing/2014/main" id="{13BBB1AF-3D19-48CC-BE51-E0CACD7F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91D292E-AE4F-4D69-AB9A-6DFE7CEF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16B"/>
                </a:solidFill>
              </a:defRPr>
            </a:pPr>
            <a:r>
              <a:rPr sz="825" b="0">
                <a:solidFill>
                  <a:srgbClr val="5B616B"/>
                </a:solidFill>
              </a:rPr>
              <a:t>05</a:t>
            </a:r>
          </a:p>
        </p:txBody>
      </p:sp>
      <p:sp>
        <p:nvSpPr>
          <p:cNvPr id="5" name="stat-label-42">
            <a:extLst xmlns:a="http://schemas.openxmlformats.org/drawingml/2006/main">
              <a:ext uri="{FF2B5EF4-FFF2-40B4-BE49-F238E27FC236}">
                <a16:creationId xmlns:a16="http://schemas.microsoft.com/office/drawing/2014/main" id="{4180A29F-2F89-4056-89DD-3FD7629F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ВОПРОСЫ</a:t>
            </a:r>
          </a:p>
        </p:txBody>
      </p:sp>
      <p:sp>
        <p:nvSpPr>
          <p:cNvPr id="6" name="stat-value-42">
            <a:extLst xmlns:a="http://schemas.openxmlformats.org/drawingml/2006/main">
              <a:ext uri="{FF2B5EF4-FFF2-40B4-BE49-F238E27FC236}">
                <a16:creationId xmlns:a16="http://schemas.microsoft.com/office/drawing/2014/main" id="{E623C893-F084-44BA-A355-0971427B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</a:defRPr>
            </a:pPr>
            <a:r>
              <a:rPr sz="4800" b="1">
                <a:solidFill>
                  <a:srgbClr val="000000"/>
                </a:solidFill>
              </a:rPr>
              <a:t>500</a:t>
            </a:r>
          </a:p>
        </p:txBody>
      </p:sp>
      <p:sp>
        <p:nvSpPr>
          <p:cNvPr id="7" name="stat-detail-42">
            <a:extLst xmlns:a="http://schemas.openxmlformats.org/drawingml/2006/main">
              <a:ext uri="{FF2B5EF4-FFF2-40B4-BE49-F238E27FC236}">
                <a16:creationId xmlns:a16="http://schemas.microsoft.com/office/drawing/2014/main" id="{085302D4-9EEB-484E-8F39-C110BCD5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10 типов вопросов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470 с qrels</a:t>
            </a:r>
          </a:p>
        </p:txBody>
      </p:sp>
      <p:sp>
        <p:nvSpPr>
          <p:cNvPr id="8" name="stat-label-442">
            <a:extLst xmlns:a="http://schemas.openxmlformats.org/drawingml/2006/main">
              <a:ext uri="{FF2B5EF4-FFF2-40B4-BE49-F238E27FC236}">
                <a16:creationId xmlns:a16="http://schemas.microsoft.com/office/drawing/2014/main" id="{9E649B56-D4D3-4A75-9396-00AF6035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38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ССЫЛКИ НА GOLD DOCS</a:t>
            </a:r>
          </a:p>
        </p:txBody>
      </p:sp>
      <p:sp>
        <p:nvSpPr>
          <p:cNvPr id="9" name="stat-value-442">
            <a:extLst xmlns:a="http://schemas.openxmlformats.org/drawingml/2006/main">
              <a:ext uri="{FF2B5EF4-FFF2-40B4-BE49-F238E27FC236}">
                <a16:creationId xmlns:a16="http://schemas.microsoft.com/office/drawing/2014/main" id="{A81E790F-E354-4AA2-A8C1-0D8CB27C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479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</a:defRPr>
            </a:pPr>
            <a:r>
              <a:rPr sz="4800" b="1">
                <a:solidFill>
                  <a:srgbClr val="000000"/>
                </a:solidFill>
              </a:rPr>
              <a:t>742</a:t>
            </a:r>
          </a:p>
        </p:txBody>
      </p:sp>
      <p:sp>
        <p:nvSpPr>
          <p:cNvPr id="10" name="stat-detail-442">
            <a:extLst xmlns:a="http://schemas.openxmlformats.org/drawingml/2006/main">
              <a:ext uri="{FF2B5EF4-FFF2-40B4-BE49-F238E27FC236}">
                <a16:creationId xmlns:a16="http://schemas.microsoft.com/office/drawing/2014/main" id="{09E07CFA-B007-4AD1-82E2-FBC22B5E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81425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722 уникальных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документа</a:t>
            </a:r>
          </a:p>
        </p:txBody>
      </p:sp>
      <p:sp>
        <p:nvSpPr>
          <p:cNvPr id="11" name="stat-label-842">
            <a:extLst xmlns:a="http://schemas.openxmlformats.org/drawingml/2006/main">
              <a:ext uri="{FF2B5EF4-FFF2-40B4-BE49-F238E27FC236}">
                <a16:creationId xmlns:a16="http://schemas.microsoft.com/office/drawing/2014/main" id="{783BDB1E-332E-4BFE-ACA2-19D59C7A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38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ПОКРЫТИЕ MAPPING</a:t>
            </a:r>
          </a:p>
        </p:txBody>
      </p:sp>
      <p:sp>
        <p:nvSpPr>
          <p:cNvPr id="12" name="stat-value-842">
            <a:extLst xmlns:a="http://schemas.openxmlformats.org/drawingml/2006/main">
              <a:ext uri="{FF2B5EF4-FFF2-40B4-BE49-F238E27FC236}">
                <a16:creationId xmlns:a16="http://schemas.microsoft.com/office/drawing/2014/main" id="{62F735DB-578A-4B28-8ECE-B016937D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</a:defRPr>
            </a:pPr>
            <a:r>
              <a:rPr sz="4800" b="1">
                <a:solidFill>
                  <a:srgbClr val="3D8DFF"/>
                </a:solidFill>
              </a:rPr>
              <a:t>100%</a:t>
            </a:r>
          </a:p>
        </p:txBody>
      </p:sp>
      <p:sp>
        <p:nvSpPr>
          <p:cNvPr id="13" name="stat-detail-842">
            <a:extLst xmlns:a="http://schemas.openxmlformats.org/drawingml/2006/main">
              <a:ext uri="{FF2B5EF4-FFF2-40B4-BE49-F238E27FC236}">
                <a16:creationId xmlns:a16="http://schemas.microsoft.com/office/drawing/2014/main" id="{DBB08DC6-7C64-45F2-94E0-6852AFC7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81425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742 из 742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ссылок найдены</a:t>
            </a:r>
          </a:p>
        </p:txBody>
      </p:sp>
      <p:sp>
        <p:nvSpPr>
          <p:cNvPr id="14" name="no-answer-note">
            <a:extLst xmlns:a="http://schemas.openxmlformats.org/drawingml/2006/main">
              <a:ext uri="{FF2B5EF4-FFF2-40B4-BE49-F238E27FC236}">
                <a16:creationId xmlns:a16="http://schemas.microsoft.com/office/drawing/2014/main" id="{DC7B4FFE-9684-480C-9905-1B0C2484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30 запросов без expected_doc_ids нельзя честно включать в Recall/nDCG как нули.</a:t>
            </a:r>
          </a:p>
        </p:txBody>
      </p:sp>
      <p:sp>
        <p:nvSpPr>
          <p:cNvPr id="15" name="quality-footer">
            <a:extLst xmlns:a="http://schemas.openxmlformats.org/drawingml/2006/main">
              <a:ext uri="{FF2B5EF4-FFF2-40B4-BE49-F238E27FC236}">
                <a16:creationId xmlns:a16="http://schemas.microsoft.com/office/drawing/2014/main" id="{FAC4C65F-DB8E-4E70-B433-07163D0C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Источник: questions.parquet и id_mapping_v1.parquet.</a:t>
            </a:r>
          </a:p>
        </p:txBody>
      </p:sp>
    </p:spTree>
    <p:extLst>
      <p:ext uri="{BB962C8B-B14F-4D97-AF65-F5344CB8AC3E}">
        <p14:creationId xmlns:p14="http://schemas.microsoft.com/office/powerpoint/2010/main" val="15157055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CA915827-E5F9-4DDF-A7C1-8458B105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АРХИТЕКТУРА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D87AFDA-A87A-4F68-9787-EC0AE224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Row index связывает Parquet, .npy и Qdrant</a:t>
            </a:r>
          </a:p>
        </p:txBody>
      </p:sp>
      <p:sp>
        <p:nvSpPr>
          <p:cNvPr id="3" name="rule-42-148">
            <a:extLst xmlns:a="http://schemas.openxmlformats.org/drawingml/2006/main">
              <a:ext uri="{FF2B5EF4-FFF2-40B4-BE49-F238E27FC236}">
                <a16:creationId xmlns:a16="http://schemas.microsoft.com/office/drawing/2014/main" id="{71FBBD1B-68B5-4789-AC48-D9F4A2A6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A4B7A62E-CF81-4F6D-94D1-1FACD72A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16B"/>
                </a:solidFill>
              </a:defRPr>
            </a:pPr>
            <a:r>
              <a:rPr sz="825" b="0">
                <a:solidFill>
                  <a:srgbClr val="5B616B"/>
                </a:solidFill>
              </a:rPr>
              <a:t>06</a:t>
            </a:r>
          </a:p>
        </p:txBody>
      </p:sp>
      <p:sp>
        <p:nvSpPr>
          <p:cNvPr id="5" name="arch-panel-0">
            <a:extLst xmlns:a="http://schemas.openxmlformats.org/drawingml/2006/main">
              <a:ext uri="{FF2B5EF4-FFF2-40B4-BE49-F238E27FC236}">
                <a16:creationId xmlns:a16="http://schemas.microsoft.com/office/drawing/2014/main" id="{CEAEFA4C-E0D9-4C3D-B7B5-E0512793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2333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CEC019E3-8ED6-44D2-8856-2FE4CCF4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Parquet</a:t>
            </a:r>
          </a:p>
        </p:txBody>
      </p:sp>
      <p:sp>
        <p:nvSpPr>
          <p:cNvPr id="7" name="arch-body-0">
            <a:extLst xmlns:a="http://schemas.openxmlformats.org/drawingml/2006/main">
              <a:ext uri="{FF2B5EF4-FFF2-40B4-BE49-F238E27FC236}">
                <a16:creationId xmlns:a16="http://schemas.microsoft.com/office/drawing/2014/main" id="{1D2C2ADB-231B-4071-97F1-2040E0F1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190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row i</a:t>
            </a:r>
          </a:p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doc_id + title</a:t>
            </a:r>
          </a:p>
        </p:txBody>
      </p:sp>
      <p:sp>
        <p:nvSpPr>
          <p:cNvPr id="8" name="arch-arrow-0">
            <a:extLst xmlns:a="http://schemas.openxmlformats.org/drawingml/2006/main">
              <a:ext uri="{FF2B5EF4-FFF2-40B4-BE49-F238E27FC236}">
                <a16:creationId xmlns:a16="http://schemas.microsoft.com/office/drawing/2014/main" id="{12A78B60-C068-4CB6-9110-5BAE4576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43250"/>
            <a:ext cx="47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9" name="arch-panel-1">
            <a:extLst xmlns:a="http://schemas.openxmlformats.org/drawingml/2006/main">
              <a:ext uri="{FF2B5EF4-FFF2-40B4-BE49-F238E27FC236}">
                <a16:creationId xmlns:a16="http://schemas.microsoft.com/office/drawing/2014/main" id="{FE5D8391-FDB7-4F09-9DB1-448A04C2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33625"/>
            <a:ext cx="2333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E92BEDED-CC7C-4056-B44E-819C1536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193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Embeddings</a:t>
            </a:r>
          </a:p>
        </p:txBody>
      </p:sp>
      <p:sp>
        <p:nvSpPr>
          <p:cNvPr id="11" name="arch-body-1">
            <a:extLst xmlns:a="http://schemas.openxmlformats.org/drawingml/2006/main">
              <a:ext uri="{FF2B5EF4-FFF2-40B4-BE49-F238E27FC236}">
                <a16:creationId xmlns:a16="http://schemas.microsoft.com/office/drawing/2014/main" id="{D7C7D123-DC00-4BA9-AB4E-315B6E07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286125"/>
            <a:ext cx="190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row i</a:t>
            </a:r>
          </a:p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float32 vector</a:t>
            </a:r>
          </a:p>
        </p:txBody>
      </p:sp>
      <p:sp>
        <p:nvSpPr>
          <p:cNvPr id="12" name="arch-arrow-1">
            <a:extLst xmlns:a="http://schemas.openxmlformats.org/drawingml/2006/main">
              <a:ext uri="{FF2B5EF4-FFF2-40B4-BE49-F238E27FC236}">
                <a16:creationId xmlns:a16="http://schemas.microsoft.com/office/drawing/2014/main" id="{A86F8388-DCE8-4B29-8CC1-D66F56D9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43250"/>
            <a:ext cx="47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3" name="arch-panel-2">
            <a:extLst xmlns:a="http://schemas.openxmlformats.org/drawingml/2006/main">
              <a:ext uri="{FF2B5EF4-FFF2-40B4-BE49-F238E27FC236}">
                <a16:creationId xmlns:a16="http://schemas.microsoft.com/office/drawing/2014/main" id="{07FF21EF-9891-4211-BD32-961175E2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3625"/>
            <a:ext cx="2333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49B48266-1A34-42FE-B517-800B66BE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Qdrant</a:t>
            </a:r>
          </a:p>
        </p:txBody>
      </p:sp>
      <p:sp>
        <p:nvSpPr>
          <p:cNvPr id="15" name="arch-body-2">
            <a:extLst xmlns:a="http://schemas.openxmlformats.org/drawingml/2006/main">
              <a:ext uri="{FF2B5EF4-FFF2-40B4-BE49-F238E27FC236}">
                <a16:creationId xmlns:a16="http://schemas.microsoft.com/office/drawing/2014/main" id="{52330467-7676-4003-9126-3FB1C6A4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86125"/>
            <a:ext cx="190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point ID i</a:t>
            </a:r>
          </a:p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payload doc_id</a:t>
            </a:r>
          </a:p>
        </p:txBody>
      </p:sp>
      <p:sp>
        <p:nvSpPr>
          <p:cNvPr id="16" name="arch-arrow-2">
            <a:extLst xmlns:a="http://schemas.openxmlformats.org/drawingml/2006/main">
              <a:ext uri="{FF2B5EF4-FFF2-40B4-BE49-F238E27FC236}">
                <a16:creationId xmlns:a16="http://schemas.microsoft.com/office/drawing/2014/main" id="{CDC55B28-1EA4-4F39-8D19-0965B07A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47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7" name="arch-panel-3">
            <a:extLst xmlns:a="http://schemas.openxmlformats.org/drawingml/2006/main">
              <a:ext uri="{FF2B5EF4-FFF2-40B4-BE49-F238E27FC236}">
                <a16:creationId xmlns:a16="http://schemas.microsoft.com/office/drawing/2014/main" id="{06313831-2434-40F4-AAE5-AF76371B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33625"/>
            <a:ext cx="2333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04BBBE29-B81F-494C-AD9D-0E83225E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19375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Search API</a:t>
            </a:r>
          </a:p>
        </p:txBody>
      </p:sp>
      <p:sp>
        <p:nvSpPr>
          <p:cNvPr id="19" name="arch-body-3">
            <a:extLst xmlns:a="http://schemas.openxmlformats.org/drawingml/2006/main">
              <a:ext uri="{FF2B5EF4-FFF2-40B4-BE49-F238E27FC236}">
                <a16:creationId xmlns:a16="http://schemas.microsoft.com/office/drawing/2014/main" id="{29F26EC7-7559-41E6-81D0-C40A24C4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86125"/>
            <a:ext cx="190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dedup by doc_id</a:t>
            </a:r>
          </a:p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top-k results</a:t>
            </a:r>
          </a:p>
        </p:txBody>
      </p:sp>
      <p:sp>
        <p:nvSpPr>
          <p:cNvPr id="20" name="arch-warning">
            <a:extLst xmlns:a="http://schemas.openxmlformats.org/drawingml/2006/main">
              <a:ext uri="{FF2B5EF4-FFF2-40B4-BE49-F238E27FC236}">
                <a16:creationId xmlns:a16="http://schemas.microsoft.com/office/drawing/2014/main" id="{D2AA9906-5A33-46B5-8ADE-DC866E9E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4 повторяющихся doc_id нельзя удалять до индексации: это сдвинет строки относительно .npy.</a:t>
            </a:r>
          </a:p>
        </p:txBody>
      </p:sp>
      <p:sp>
        <p:nvSpPr>
          <p:cNvPr id="21" name="arch-footer">
            <a:extLst xmlns:a="http://schemas.openxmlformats.org/drawingml/2006/main">
              <a:ext uri="{FF2B5EF4-FFF2-40B4-BE49-F238E27FC236}">
                <a16:creationId xmlns:a16="http://schemas.microsoft.com/office/drawing/2014/main" id="{9769B971-7688-4C71-87A7-BE716767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Инвариант проверяется до любого upsert; дубликаты объединяются только после retrieval.</a:t>
            </a:r>
          </a:p>
        </p:txBody>
      </p:sp>
    </p:spTree>
    <p:extLst>
      <p:ext uri="{BB962C8B-B14F-4D97-AF65-F5344CB8AC3E}">
        <p14:creationId xmlns:p14="http://schemas.microsoft.com/office/powerpoint/2010/main" val="6225348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A640EC98-A08D-4411-AF8F-BF245905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BASELINE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A2E5229-0EE6-4EC3-A6D8-5EA07429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Итерация 1: сначала exact, затем оптимизация</a:t>
            </a:r>
          </a:p>
        </p:txBody>
      </p:sp>
      <p:sp>
        <p:nvSpPr>
          <p:cNvPr id="3" name="rule-42-148">
            <a:extLst xmlns:a="http://schemas.openxmlformats.org/drawingml/2006/main">
              <a:ext uri="{FF2B5EF4-FFF2-40B4-BE49-F238E27FC236}">
                <a16:creationId xmlns:a16="http://schemas.microsoft.com/office/drawing/2014/main" id="{FCAA0EF8-8915-4109-9738-06C38B3B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9FA76DC6-DBBB-434E-8296-98B700AB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16B"/>
                </a:solidFill>
              </a:defRPr>
            </a:pPr>
            <a:r>
              <a:rPr sz="825" b="0">
                <a:solidFill>
                  <a:srgbClr val="5B616B"/>
                </a:solidFill>
              </a:rPr>
              <a:t>07</a:t>
            </a:r>
          </a:p>
        </p:txBody>
      </p:sp>
      <p:sp>
        <p:nvSpPr>
          <p:cNvPr id="5" name="rule-64-282">
            <a:extLst xmlns:a="http://schemas.openxmlformats.org/drawingml/2006/main">
              <a:ext uri="{FF2B5EF4-FFF2-40B4-BE49-F238E27FC236}">
                <a16:creationId xmlns:a16="http://schemas.microsoft.com/office/drawing/2014/main" id="{8EB31933-C7F8-4808-A21A-6AE45D3B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ep-dot-1">
            <a:extLst xmlns:a="http://schemas.openxmlformats.org/drawingml/2006/main">
              <a:ext uri="{FF2B5EF4-FFF2-40B4-BE49-F238E27FC236}">
                <a16:creationId xmlns:a16="http://schemas.microsoft.com/office/drawing/2014/main" id="{C0DAE194-05AF-4905-A9FB-6E4E083D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13D808BE-2163-4AFE-8A4B-5396DE4F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6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CE68AF93-F181-4A81-BC82-29533501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242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MiniLM</a:t>
            </a:r>
          </a:p>
        </p:txBody>
      </p:sp>
      <p:sp>
        <p:nvSpPr>
          <p:cNvPr id="9" name="step-body-1">
            <a:extLst xmlns:a="http://schemas.openxmlformats.org/drawingml/2006/main">
              <a:ext uri="{FF2B5EF4-FFF2-40B4-BE49-F238E27FC236}">
                <a16:creationId xmlns:a16="http://schemas.microsoft.com/office/drawing/2014/main" id="{57822D42-E47A-469A-80AE-3B24F1FD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2428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Запрос и документы</a:t>
            </a:r>
          </a:p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в одном 384-D</a:t>
            </a:r>
          </a:p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пространстве</a:t>
            </a:r>
          </a:p>
        </p:txBody>
      </p:sp>
      <p:sp>
        <p:nvSpPr>
          <p:cNvPr id="10" name="step-dot-2">
            <a:extLst xmlns:a="http://schemas.openxmlformats.org/drawingml/2006/main">
              <a:ext uri="{FF2B5EF4-FFF2-40B4-BE49-F238E27FC236}">
                <a16:creationId xmlns:a16="http://schemas.microsoft.com/office/drawing/2014/main" id="{96F9769C-3718-416C-A4D8-E5F30569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95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43A7CE4A-6394-4CED-AF38-0DA2F355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6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318B8612-2DED-488A-968C-7001437C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43250"/>
            <a:ext cx="242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Exact scan</a:t>
            </a:r>
          </a:p>
        </p:txBody>
      </p:sp>
      <p:sp>
        <p:nvSpPr>
          <p:cNvPr id="13" name="step-body-2">
            <a:extLst xmlns:a="http://schemas.openxmlformats.org/drawingml/2006/main">
              <a:ext uri="{FF2B5EF4-FFF2-40B4-BE49-F238E27FC236}">
                <a16:creationId xmlns:a16="http://schemas.microsoft.com/office/drawing/2014/main" id="{FB3141B2-747E-4D63-A262-002C6381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86200"/>
            <a:ext cx="2428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Qdrant обходит</a:t>
            </a:r>
          </a:p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HNSW: без потерь</a:t>
            </a:r>
          </a:p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приближения</a:t>
            </a:r>
          </a:p>
        </p:txBody>
      </p:sp>
      <p:sp>
        <p:nvSpPr>
          <p:cNvPr id="14" name="step-dot-3">
            <a:extLst xmlns:a="http://schemas.openxmlformats.org/drawingml/2006/main">
              <a:ext uri="{FF2B5EF4-FFF2-40B4-BE49-F238E27FC236}">
                <a16:creationId xmlns:a16="http://schemas.microsoft.com/office/drawing/2014/main" id="{814F6F9D-CA24-4265-9F8F-99F28EC1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95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3E22DFB4-319A-4EEA-9C67-FE8E92C5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6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6A085BEE-36D3-47A2-B80C-1FA0EA77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242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Top-10</a:t>
            </a:r>
          </a:p>
        </p:txBody>
      </p:sp>
      <p:sp>
        <p:nvSpPr>
          <p:cNvPr id="17" name="step-body-3">
            <a:extLst xmlns:a="http://schemas.openxmlformats.org/drawingml/2006/main">
              <a:ext uri="{FF2B5EF4-FFF2-40B4-BE49-F238E27FC236}">
                <a16:creationId xmlns:a16="http://schemas.microsoft.com/office/drawing/2014/main" id="{0C956A38-5F21-49F7-A959-38121AF6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2428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Cosine ranking</a:t>
            </a:r>
          </a:p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и payload</a:t>
            </a:r>
          </a:p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документа</a:t>
            </a:r>
          </a:p>
        </p:txBody>
      </p:sp>
      <p:sp>
        <p:nvSpPr>
          <p:cNvPr id="18" name="step-dot-4">
            <a:extLst xmlns:a="http://schemas.openxmlformats.org/drawingml/2006/main">
              <a:ext uri="{FF2B5EF4-FFF2-40B4-BE49-F238E27FC236}">
                <a16:creationId xmlns:a16="http://schemas.microsoft.com/office/drawing/2014/main" id="{3504F96E-0B34-4AD7-84D9-3A15513B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95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number-4">
            <a:extLst xmlns:a="http://schemas.openxmlformats.org/drawingml/2006/main">
              <a:ext uri="{FF2B5EF4-FFF2-40B4-BE49-F238E27FC236}">
                <a16:creationId xmlns:a16="http://schemas.microsoft.com/office/drawing/2014/main" id="{6BD7AD40-5F58-4336-BF1D-702A7B87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6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A808BAFB-2EE7-4F28-982A-0660AF3A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143250"/>
            <a:ext cx="242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Metrics</a:t>
            </a:r>
          </a:p>
        </p:txBody>
      </p:sp>
      <p:sp>
        <p:nvSpPr>
          <p:cNvPr id="21" name="step-body-4">
            <a:extLst xmlns:a="http://schemas.openxmlformats.org/drawingml/2006/main">
              <a:ext uri="{FF2B5EF4-FFF2-40B4-BE49-F238E27FC236}">
                <a16:creationId xmlns:a16="http://schemas.microsoft.com/office/drawing/2014/main" id="{6E9CA76C-0EB9-468A-8CF2-B7424568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886200"/>
            <a:ext cx="2428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nDCG, Recall,</a:t>
            </a:r>
          </a:p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MAP, MRR,</a:t>
            </a:r>
          </a:p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latency</a:t>
            </a:r>
          </a:p>
        </p:txBody>
      </p:sp>
      <p:sp>
        <p:nvSpPr>
          <p:cNvPr id="22" name="v1-footer">
            <a:extLst xmlns:a="http://schemas.openxmlformats.org/drawingml/2006/main">
              <a:ext uri="{FF2B5EF4-FFF2-40B4-BE49-F238E27FC236}">
                <a16:creationId xmlns:a16="http://schemas.microsoft.com/office/drawing/2014/main" id="{36727C28-FD52-4DCD-A748-B178A9DE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Exact search: qdrant.tech/documentation/search/search/ · MiniLM dimension must be confirmed from .npy.</a:t>
            </a:r>
          </a:p>
        </p:txBody>
      </p:sp>
    </p:spTree>
    <p:extLst>
      <p:ext uri="{BB962C8B-B14F-4D97-AF65-F5344CB8AC3E}">
        <p14:creationId xmlns:p14="http://schemas.microsoft.com/office/powerpoint/2010/main" val="745725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AD3CD788-E897-4EB9-AAED-8E6FE321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СРАВНЕНИЕ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41CEBE3-0B3A-4A20-9C56-7D205B75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Итерация 2: HNSW + int8 + BM25 через RRF</a:t>
            </a:r>
          </a:p>
        </p:txBody>
      </p:sp>
      <p:sp>
        <p:nvSpPr>
          <p:cNvPr id="3" name="rule-42-148">
            <a:extLst xmlns:a="http://schemas.openxmlformats.org/drawingml/2006/main">
              <a:ext uri="{FF2B5EF4-FFF2-40B4-BE49-F238E27FC236}">
                <a16:creationId xmlns:a16="http://schemas.microsoft.com/office/drawing/2014/main" id="{29DA798B-4A9B-4D89-83BA-42581206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F3DA59AC-C2A6-4BA2-96D2-8F9E22FD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16B"/>
                </a:solidFill>
              </a:defRPr>
            </a:pPr>
            <a:r>
              <a:rPr sz="825" b="0">
                <a:solidFill>
                  <a:srgbClr val="5B616B"/>
                </a:solidFill>
              </a:rPr>
              <a:t>08</a:t>
            </a:r>
          </a:p>
        </p:txBody>
      </p:sp>
      <p:sp>
        <p:nvSpPr>
          <p:cNvPr id="5" name="compare-v1-label">
            <a:extLst xmlns:a="http://schemas.openxmlformats.org/drawingml/2006/main">
              <a:ext uri="{FF2B5EF4-FFF2-40B4-BE49-F238E27FC236}">
                <a16:creationId xmlns:a16="http://schemas.microsoft.com/office/drawing/2014/main" id="{5C687F67-B4F6-4BD4-B8B1-1196550F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16B"/>
                </a:solidFill>
              </a:defRPr>
            </a:pPr>
            <a:r>
              <a:rPr sz="1125" b="1">
                <a:solidFill>
                  <a:srgbClr val="5B616B"/>
                </a:solidFill>
              </a:rPr>
              <a:t>ИТЕРАЦИЯ 1</a:t>
            </a:r>
          </a:p>
        </p:txBody>
      </p:sp>
      <p:sp>
        <p:nvSpPr>
          <p:cNvPr id="6" name="compare-v1-title">
            <a:extLst xmlns:a="http://schemas.openxmlformats.org/drawingml/2006/main">
              <a:ext uri="{FF2B5EF4-FFF2-40B4-BE49-F238E27FC236}">
                <a16:creationId xmlns:a16="http://schemas.microsoft.com/office/drawing/2014/main" id="{EAC1D80E-636F-40B8-B722-8D013863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Baseline</a:t>
            </a:r>
          </a:p>
        </p:txBody>
      </p:sp>
      <p:sp>
        <p:nvSpPr>
          <p:cNvPr id="7" name="compare-v1-body">
            <a:extLst xmlns:a="http://schemas.openxmlformats.org/drawingml/2006/main">
              <a:ext uri="{FF2B5EF4-FFF2-40B4-BE49-F238E27FC236}">
                <a16:creationId xmlns:a16="http://schemas.microsoft.com/office/drawing/2014/main" id="{32BA7328-44B4-4BB1-A157-1783DABE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all-MiniLM-L6-v2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Exact cosine scan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Float32 vectors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Dense only</a:t>
            </a:r>
          </a:p>
        </p:txBody>
      </p:sp>
      <p:sp>
        <p:nvSpPr>
          <p:cNvPr id="8" name="rule-630-190">
            <a:extLst xmlns:a="http://schemas.openxmlformats.org/drawingml/2006/main">
              <a:ext uri="{FF2B5EF4-FFF2-40B4-BE49-F238E27FC236}">
                <a16:creationId xmlns:a16="http://schemas.microsoft.com/office/drawing/2014/main" id="{4E7BEB83-B15B-4C4D-A686-CBB75BC3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are-v2-label">
            <a:extLst xmlns:a="http://schemas.openxmlformats.org/drawingml/2006/main">
              <a:ext uri="{FF2B5EF4-FFF2-40B4-BE49-F238E27FC236}">
                <a16:creationId xmlns:a16="http://schemas.microsoft.com/office/drawing/2014/main" id="{179493FC-36D4-4BD9-89A7-ACB19D99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ИТЕРАЦИЯ 2</a:t>
            </a:r>
          </a:p>
        </p:txBody>
      </p:sp>
      <p:sp>
        <p:nvSpPr>
          <p:cNvPr id="10" name="compare-v2-title">
            <a:extLst xmlns:a="http://schemas.openxmlformats.org/drawingml/2006/main">
              <a:ext uri="{FF2B5EF4-FFF2-40B4-BE49-F238E27FC236}">
                <a16:creationId xmlns:a16="http://schemas.microsoft.com/office/drawing/2014/main" id="{F267557F-74DD-4115-8A83-230DB236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Improved hypothesis</a:t>
            </a:r>
          </a:p>
        </p:txBody>
      </p:sp>
      <p:sp>
        <p:nvSpPr>
          <p:cNvPr id="11" name="compare-v2-body">
            <a:extLst xmlns:a="http://schemas.openxmlformats.org/drawingml/2006/main">
              <a:ext uri="{FF2B5EF4-FFF2-40B4-BE49-F238E27FC236}">
                <a16:creationId xmlns:a16="http://schemas.microsoft.com/office/drawing/2014/main" id="{D295CA9A-ECFF-49F3-A157-1326A647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SPECTER2 / chosen v2 model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HNSW: tunable ef_search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Qdrant scalar int8</a:t>
            </a:r>
          </a:p>
          <a:p xmlns:a="http://schemas.openxmlformats.org/drawingml/2006/main">
            <a:pPr algn="l"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BM25 + dense → RRF</a:t>
            </a:r>
          </a:p>
        </p:txBody>
      </p:sp>
      <p:sp>
        <p:nvSpPr>
          <p:cNvPr id="12" name="compare-caveat">
            <a:extLst xmlns:a="http://schemas.openxmlformats.org/drawingml/2006/main">
              <a:ext uri="{FF2B5EF4-FFF2-40B4-BE49-F238E27FC236}">
                <a16:creationId xmlns:a16="http://schemas.microsoft.com/office/drawing/2014/main" id="{1C0E17FF-8B7F-4DB3-BE5E-EBD2553E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04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SPECTER2 — сильная гипотеза для arXiv, но не гарантированное улучшение для EnterpriseRAG.</a:t>
            </a:r>
          </a:p>
        </p:txBody>
      </p:sp>
      <p:sp>
        <p:nvSpPr>
          <p:cNvPr id="13" name="v2-footer">
            <a:extLst xmlns:a="http://schemas.openxmlformats.org/drawingml/2006/main">
              <a:ext uri="{FF2B5EF4-FFF2-40B4-BE49-F238E27FC236}">
                <a16:creationId xmlns:a16="http://schemas.microsoft.com/office/drawing/2014/main" id="{B440D828-EC90-46E7-B9F5-C4F75F6C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Sources: huggingface.co/allenai/specter2 · qdrant.tech/documentation/manage-data/quantization/</a:t>
            </a:r>
          </a:p>
        </p:txBody>
      </p:sp>
    </p:spTree>
    <p:extLst>
      <p:ext uri="{BB962C8B-B14F-4D97-AF65-F5344CB8AC3E}">
        <p14:creationId xmlns:p14="http://schemas.microsoft.com/office/powerpoint/2010/main" val="20816680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372DAECE-4756-4FE8-8DD7-93B259EE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ГИБРИД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4B086766-A0A8-4D01-853B-A7C81EAE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RRF объединяет ранги, а не несравнимые score</a:t>
            </a:r>
          </a:p>
        </p:txBody>
      </p:sp>
      <p:sp>
        <p:nvSpPr>
          <p:cNvPr id="3" name="rule-42-148">
            <a:extLst xmlns:a="http://schemas.openxmlformats.org/drawingml/2006/main">
              <a:ext uri="{FF2B5EF4-FFF2-40B4-BE49-F238E27FC236}">
                <a16:creationId xmlns:a16="http://schemas.microsoft.com/office/drawing/2014/main" id="{D5FCC3FE-2B3F-4AA5-B273-C71E96CB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F88AE4A8-44BD-4BD1-BC55-F9B13628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16B"/>
                </a:solidFill>
              </a:defRPr>
            </a:pPr>
            <a:r>
              <a:rPr sz="825" b="0">
                <a:solidFill>
                  <a:srgbClr val="5B616B"/>
                </a:solidFill>
              </a:rPr>
              <a:t>09</a:t>
            </a:r>
          </a:p>
        </p:txBody>
      </p:sp>
      <p:sp>
        <p:nvSpPr>
          <p:cNvPr id="5" name="rrf-formula">
            <a:extLst xmlns:a="http://schemas.openxmlformats.org/drawingml/2006/main">
              <a:ext uri="{FF2B5EF4-FFF2-40B4-BE49-F238E27FC236}">
                <a16:creationId xmlns:a16="http://schemas.microsoft.com/office/drawing/2014/main" id="{D580E870-CB13-4836-BD0D-F0E6B012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714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RRF(d) = Σ  1 / (k + rankᵢ(d))</a:t>
            </a:r>
          </a:p>
        </p:txBody>
      </p:sp>
      <p:sp>
        <p:nvSpPr>
          <p:cNvPr id="6" name="rrf-explain">
            <a:extLst xmlns:a="http://schemas.openxmlformats.org/drawingml/2006/main">
              <a:ext uri="{FF2B5EF4-FFF2-40B4-BE49-F238E27FC236}">
                <a16:creationId xmlns:a16="http://schemas.microsoft.com/office/drawing/2014/main" id="{ED84A9AC-B315-4FDB-BEAB-7F258C16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33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16B"/>
                </a:solidFill>
              </a:defRPr>
            </a:pPr>
            <a:r>
              <a:rPr sz="1875" b="0">
                <a:solidFill>
                  <a:srgbClr val="5B616B"/>
                </a:solidFill>
              </a:rPr>
              <a:t>BM25 score и cosine имеют разные шкалы.</a:t>
            </a:r>
          </a:p>
          <a:p xmlns:a="http://schemas.openxmlformats.org/drawingml/2006/main">
            <a:pPr algn="l">
              <a:defRPr sz="1875" b="0">
                <a:solidFill>
                  <a:srgbClr val="5B616B"/>
                </a:solidFill>
              </a:defRPr>
            </a:pPr>
            <a:r>
              <a:rPr sz="1875" b="0">
                <a:solidFill>
                  <a:srgbClr val="5B616B"/>
                </a:solidFill>
              </a:rPr>
              <a:t>RRF использует только позицию документа</a:t>
            </a:r>
          </a:p>
          <a:p xmlns:a="http://schemas.openxmlformats.org/drawingml/2006/main">
            <a:pPr algn="l">
              <a:defRPr sz="1875" b="0">
                <a:solidFill>
                  <a:srgbClr val="5B616B"/>
                </a:solidFill>
              </a:defRPr>
            </a:pPr>
            <a:r>
              <a:rPr sz="1875" b="0">
                <a:solidFill>
                  <a:srgbClr val="5B616B"/>
                </a:solidFill>
              </a:rPr>
              <a:t>и устойчив к их калибровке.</a:t>
            </a:r>
          </a:p>
        </p:txBody>
      </p:sp>
      <p:sp>
        <p:nvSpPr>
          <p:cNvPr id="7" name="rrf-example">
            <a:extLst xmlns:a="http://schemas.openxmlformats.org/drawingml/2006/main">
              <a:ext uri="{FF2B5EF4-FFF2-40B4-BE49-F238E27FC236}">
                <a16:creationId xmlns:a16="http://schemas.microsoft.com/office/drawing/2014/main" id="{F5D1DD0A-DBB5-4246-96B8-E5994FF6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52197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rf-example-label">
            <a:extLst xmlns:a="http://schemas.openxmlformats.org/drawingml/2006/main">
              <a:ext uri="{FF2B5EF4-FFF2-40B4-BE49-F238E27FC236}">
                <a16:creationId xmlns:a16="http://schemas.microsoft.com/office/drawing/2014/main" id="{6E17B6F0-68A7-475D-A30F-D372100F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86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16B"/>
                </a:solidFill>
              </a:defRPr>
            </a:pPr>
            <a:r>
              <a:rPr sz="1125" b="1">
                <a:solidFill>
                  <a:srgbClr val="5B616B"/>
                </a:solidFill>
              </a:rPr>
              <a:t>ПРИМЕР</a:t>
            </a:r>
          </a:p>
        </p:txBody>
      </p:sp>
      <p:sp>
        <p:nvSpPr>
          <p:cNvPr id="9" name="rrf-example-body">
            <a:extLst xmlns:a="http://schemas.openxmlformats.org/drawingml/2006/main">
              <a:ext uri="{FF2B5EF4-FFF2-40B4-BE49-F238E27FC236}">
                <a16:creationId xmlns:a16="http://schemas.microsoft.com/office/drawing/2014/main" id="{72AA3C89-71C1-43E4-A75C-147F8C5F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9875"/>
            <a:ext cx="4286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Dense:   A · B · C</a:t>
            </a:r>
          </a:p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BM25:    B · D · 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Итог:   B · A · C/D</a:t>
            </a:r>
          </a:p>
        </p:txBody>
      </p:sp>
      <p:sp>
        <p:nvSpPr>
          <p:cNvPr id="10" name="rrf-k">
            <a:extLst xmlns:a="http://schemas.openxmlformats.org/drawingml/2006/main">
              <a:ext uri="{FF2B5EF4-FFF2-40B4-BE49-F238E27FC236}">
                <a16:creationId xmlns:a16="http://schemas.microsoft.com/office/drawing/2014/main" id="{66DDED31-CC36-4111-BA63-93124541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000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16B"/>
                </a:solidFill>
              </a:defRPr>
            </a:pPr>
            <a:r>
              <a:rPr sz="1425" b="0">
                <a:solidFill>
                  <a:srgbClr val="5B616B"/>
                </a:solidFill>
              </a:rPr>
              <a:t>В проекте k = 60</a:t>
            </a:r>
          </a:p>
        </p:txBody>
      </p:sp>
      <p:sp>
        <p:nvSpPr>
          <p:cNvPr id="11" name="rrf-footer">
            <a:extLst xmlns:a="http://schemas.openxmlformats.org/drawingml/2006/main">
              <a:ext uri="{FF2B5EF4-FFF2-40B4-BE49-F238E27FC236}">
                <a16:creationId xmlns:a16="http://schemas.microsoft.com/office/drawing/2014/main" id="{478BE3DB-7D7E-4F8B-B359-500DE757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Каждый doc_id учитывается один раз внутри каждого входного ранжирования.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2349329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0">
            <a:extLst xmlns:a="http://schemas.openxmlformats.org/drawingml/2006/main">
              <a:ext uri="{FF2B5EF4-FFF2-40B4-BE49-F238E27FC236}">
                <a16:creationId xmlns:a16="http://schemas.microsoft.com/office/drawing/2014/main" id="{F609BD0B-8E03-46C3-8C20-BC1B3AB7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ЭКСПЕРИМЕНТ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2165843-E3AB-4D3C-AF76-6BB1FE25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Оценка разделяет порядок, полноту и скорость</a:t>
            </a:r>
          </a:p>
        </p:txBody>
      </p:sp>
      <p:sp>
        <p:nvSpPr>
          <p:cNvPr id="3" name="rule-42-148">
            <a:extLst xmlns:a="http://schemas.openxmlformats.org/drawingml/2006/main">
              <a:ext uri="{FF2B5EF4-FFF2-40B4-BE49-F238E27FC236}">
                <a16:creationId xmlns:a16="http://schemas.microsoft.com/office/drawing/2014/main" id="{6E151BF2-8383-4338-A863-5CE10A59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F5964436-0BFD-4146-89B8-A40D4781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16B"/>
                </a:solidFill>
              </a:defRPr>
            </a:pPr>
            <a:r>
              <a:rPr sz="825" b="0">
                <a:solidFill>
                  <a:srgbClr val="5B616B"/>
                </a:solidFill>
              </a:rPr>
              <a:t>10</a:t>
            </a:r>
          </a:p>
        </p:txBody>
      </p:sp>
      <p:sp>
        <p:nvSpPr>
          <p:cNvPr id="5" name="metric-title-42-205">
            <a:extLst xmlns:a="http://schemas.openxmlformats.org/drawingml/2006/main">
              <a:ext uri="{FF2B5EF4-FFF2-40B4-BE49-F238E27FC236}">
                <a16:creationId xmlns:a16="http://schemas.microsoft.com/office/drawing/2014/main" id="{734D5BF1-B9D4-4019-AF6A-55E39BEE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nDCG@10</a:t>
            </a:r>
          </a:p>
        </p:txBody>
      </p:sp>
      <p:sp>
        <p:nvSpPr>
          <p:cNvPr id="6" name="rule-42-260">
            <a:extLst xmlns:a="http://schemas.openxmlformats.org/drawingml/2006/main">
              <a:ext uri="{FF2B5EF4-FFF2-40B4-BE49-F238E27FC236}">
                <a16:creationId xmlns:a16="http://schemas.microsoft.com/office/drawing/2014/main" id="{9B009A78-9950-46D7-8D69-7FE23CB7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body-42-205">
            <a:extLst xmlns:a="http://schemas.openxmlformats.org/drawingml/2006/main">
              <a:ext uri="{FF2B5EF4-FFF2-40B4-BE49-F238E27FC236}">
                <a16:creationId xmlns:a16="http://schemas.microsoft.com/office/drawing/2014/main" id="{AEB4E26A-F2BF-46AC-93D7-2502DC23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955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Насколько высоко стоят релевантные документы</a:t>
            </a:r>
          </a:p>
        </p:txBody>
      </p:sp>
      <p:sp>
        <p:nvSpPr>
          <p:cNvPr id="8" name="metric-title-650-205">
            <a:extLst xmlns:a="http://schemas.openxmlformats.org/drawingml/2006/main">
              <a:ext uri="{FF2B5EF4-FFF2-40B4-BE49-F238E27FC236}">
                <a16:creationId xmlns:a16="http://schemas.microsoft.com/office/drawing/2014/main" id="{B15600C6-2B46-4BD7-BB65-9F83F5C6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Recall@10</a:t>
            </a:r>
          </a:p>
        </p:txBody>
      </p:sp>
      <p:sp>
        <p:nvSpPr>
          <p:cNvPr id="9" name="rule-650-260">
            <a:extLst xmlns:a="http://schemas.openxmlformats.org/drawingml/2006/main">
              <a:ext uri="{FF2B5EF4-FFF2-40B4-BE49-F238E27FC236}">
                <a16:creationId xmlns:a16="http://schemas.microsoft.com/office/drawing/2014/main" id="{33A3BC31-92CA-4365-809F-403DA97C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body-650-205">
            <a:extLst xmlns:a="http://schemas.openxmlformats.org/drawingml/2006/main">
              <a:ext uri="{FF2B5EF4-FFF2-40B4-BE49-F238E27FC236}">
                <a16:creationId xmlns:a16="http://schemas.microsoft.com/office/drawing/2014/main" id="{864D336F-7FAD-4DFB-BDA3-BFEA25B4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955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Какая доля всех gold-документов найдена</a:t>
            </a:r>
          </a:p>
        </p:txBody>
      </p:sp>
      <p:sp>
        <p:nvSpPr>
          <p:cNvPr id="11" name="metric-title-42-405">
            <a:extLst xmlns:a="http://schemas.openxmlformats.org/drawingml/2006/main">
              <a:ext uri="{FF2B5EF4-FFF2-40B4-BE49-F238E27FC236}">
                <a16:creationId xmlns:a16="http://schemas.microsoft.com/office/drawing/2014/main" id="{C40481C0-7DA6-4C34-AB83-59586BB5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MAP@10 + MRR@10</a:t>
            </a:r>
          </a:p>
        </p:txBody>
      </p:sp>
      <p:sp>
        <p:nvSpPr>
          <p:cNvPr id="12" name="rule-42-460">
            <a:extLst xmlns:a="http://schemas.openxmlformats.org/drawingml/2006/main">
              <a:ext uri="{FF2B5EF4-FFF2-40B4-BE49-F238E27FC236}">
                <a16:creationId xmlns:a16="http://schemas.microsoft.com/office/drawing/2014/main" id="{71884D98-E272-404F-821C-A7E7E00D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body-42-405">
            <a:extLst xmlns:a="http://schemas.openxmlformats.org/drawingml/2006/main">
              <a:ext uri="{FF2B5EF4-FFF2-40B4-BE49-F238E27FC236}">
                <a16:creationId xmlns:a16="http://schemas.microsoft.com/office/drawing/2014/main" id="{CC5D92D0-3998-4D95-9347-3FBF34C2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005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Точность позиций и ранг первого попадания</a:t>
            </a:r>
          </a:p>
        </p:txBody>
      </p:sp>
      <p:sp>
        <p:nvSpPr>
          <p:cNvPr id="14" name="metric-title-650-405">
            <a:extLst xmlns:a="http://schemas.openxmlformats.org/drawingml/2006/main">
              <a:ext uri="{FF2B5EF4-FFF2-40B4-BE49-F238E27FC236}">
                <a16:creationId xmlns:a16="http://schemas.microsoft.com/office/drawing/2014/main" id="{F48F1D99-5416-43AA-8FC2-5B05FC5B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Latency + ANN recall</a:t>
            </a:r>
          </a:p>
        </p:txBody>
      </p:sp>
      <p:sp>
        <p:nvSpPr>
          <p:cNvPr id="15" name="rule-650-460">
            <a:extLst xmlns:a="http://schemas.openxmlformats.org/drawingml/2006/main">
              <a:ext uri="{FF2B5EF4-FFF2-40B4-BE49-F238E27FC236}">
                <a16:creationId xmlns:a16="http://schemas.microsoft.com/office/drawing/2014/main" id="{9051BB2C-F235-40D8-BC12-8EEF597B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76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ric-body-650-405">
            <a:extLst xmlns:a="http://schemas.openxmlformats.org/drawingml/2006/main">
              <a:ext uri="{FF2B5EF4-FFF2-40B4-BE49-F238E27FC236}">
                <a16:creationId xmlns:a16="http://schemas.microsoft.com/office/drawing/2014/main" id="{A4BE5891-7802-4B8D-A8EA-C7ABD0C2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00575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Цена ускорения HNSW относительно exact</a:t>
            </a:r>
          </a:p>
        </p:txBody>
      </p:sp>
      <p:sp>
        <p:nvSpPr>
          <p:cNvPr id="17" name="metrics-footer">
            <a:extLst xmlns:a="http://schemas.openxmlformats.org/drawingml/2006/main">
              <a:ext uri="{FF2B5EF4-FFF2-40B4-BE49-F238E27FC236}">
                <a16:creationId xmlns:a16="http://schemas.microsoft.com/office/drawing/2014/main" id="{770B1A96-602C-4437-ABB1-1A16F743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Ranking metrics: 470 queries with qrels. No-answer: separate empty-result rate on 30 queries.</a:t>
            </a:r>
          </a:p>
        </p:txBody>
      </p:sp>
    </p:spTree>
    <p:extLst>
      <p:ext uri="{BB962C8B-B14F-4D97-AF65-F5344CB8AC3E}">
        <p14:creationId xmlns:p14="http://schemas.microsoft.com/office/powerpoint/2010/main" val="3515271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1">
            <a:extLst xmlns:a="http://schemas.openxmlformats.org/drawingml/2006/main">
              <a:ext uri="{FF2B5EF4-FFF2-40B4-BE49-F238E27FC236}">
                <a16:creationId xmlns:a16="http://schemas.microsoft.com/office/drawing/2014/main" id="{5F90FAED-657D-449C-8F1E-A17DC275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ФАКТИЧЕСКИЙ ПРОГОН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FEA3FA99-8521-4F4E-B4ED-E526E1EC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Реальный baseline: title-only BM25</a:t>
            </a:r>
          </a:p>
        </p:txBody>
      </p:sp>
      <p:sp>
        <p:nvSpPr>
          <p:cNvPr id="3" name="rule-42-148">
            <a:extLst xmlns:a="http://schemas.openxmlformats.org/drawingml/2006/main">
              <a:ext uri="{FF2B5EF4-FFF2-40B4-BE49-F238E27FC236}">
                <a16:creationId xmlns:a16="http://schemas.microsoft.com/office/drawing/2014/main" id="{5F674398-2631-4166-917D-A7908415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07D52DAD-5EB2-4762-B726-FF46F1CD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16B"/>
                </a:solidFill>
              </a:defRPr>
            </a:pPr>
            <a:r>
              <a:rPr sz="825" b="0">
                <a:solidFill>
                  <a:srgbClr val="5B616B"/>
                </a:solidFill>
              </a:rPr>
              <a:t>11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57200" y="2000250"/>
          <a:ext xmlns:a="http://schemas.openxmlformats.org/drawingml/2006/main" cx="7048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b92f404f744705"/>
          </a:graphicData>
        </a:graphic>
      </p:graphicFrame>
      <p:sp>
        <p:nvSpPr>
          <p:cNvPr id="6" name="baseline-latency">
            <a:extLst xmlns:a="http://schemas.openxmlformats.org/drawingml/2006/main">
              <a:ext uri="{FF2B5EF4-FFF2-40B4-BE49-F238E27FC236}">
                <a16:creationId xmlns:a16="http://schemas.microsoft.com/office/drawing/2014/main" id="{E82438E1-6CD6-4BBD-BE9A-6544A7F3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717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</a:defRPr>
            </a:pPr>
            <a:r>
              <a:rPr sz="4050" b="1">
                <a:solidFill>
                  <a:srgbClr val="3D8DFF"/>
                </a:solidFill>
              </a:rPr>
              <a:t>10,5 ms</a:t>
            </a:r>
          </a:p>
        </p:txBody>
      </p:sp>
      <p:sp>
        <p:nvSpPr>
          <p:cNvPr id="7" name="baseline-latency-label">
            <a:extLst xmlns:a="http://schemas.openxmlformats.org/drawingml/2006/main">
              <a:ext uri="{FF2B5EF4-FFF2-40B4-BE49-F238E27FC236}">
                <a16:creationId xmlns:a16="http://schemas.microsoft.com/office/drawing/2014/main" id="{93CC8D41-BF2E-4D94-AD52-DEAE2674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mean retrieval latency</a:t>
            </a:r>
          </a:p>
        </p:txBody>
      </p:sp>
      <p:sp>
        <p:nvSpPr>
          <p:cNvPr id="8" name="baseline-context">
            <a:extLst xmlns:a="http://schemas.openxmlformats.org/drawingml/2006/main">
              <a:ext uri="{FF2B5EF4-FFF2-40B4-BE49-F238E27FC236}">
                <a16:creationId xmlns:a16="http://schemas.microsoft.com/office/drawing/2014/main" id="{019CCB79-3AE6-4810-B469-5133A709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9575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16B"/>
                </a:solidFill>
              </a:defRPr>
            </a:pPr>
            <a:r>
              <a:rPr sz="1650" b="0">
                <a:solidFill>
                  <a:srgbClr val="5B616B"/>
                </a:solidFill>
              </a:rPr>
              <a:t>470 scored queries</a:t>
            </a:r>
          </a:p>
          <a:p xmlns:a="http://schemas.openxmlformats.org/drawingml/2006/main">
            <a:pPr algn="l">
              <a:defRPr sz="1650" b="0">
                <a:solidFill>
                  <a:srgbClr val="5B616B"/>
                </a:solidFill>
              </a:defRPr>
            </a:pPr>
            <a:r>
              <a:rPr sz="1650" b="0">
                <a:solidFill>
                  <a:srgbClr val="5B616B"/>
                </a:solidFill>
              </a:rPr>
              <a:t>511 961 titles</a:t>
            </a:r>
          </a:p>
          <a:p xmlns:a="http://schemas.openxmlformats.org/drawingml/2006/main">
            <a:pPr algn="l">
              <a:defRPr sz="1650" b="0">
                <a:solidFill>
                  <a:srgbClr val="5B616B"/>
                </a:solidFill>
              </a:defRPr>
            </a:pPr>
            <a:r>
              <a:rPr sz="1650" b="0">
                <a:solidFill>
                  <a:srgbClr val="5B616B"/>
                </a:solidFill>
              </a:rPr>
              <a:t>full texts unavailable</a:t>
            </a:r>
          </a:p>
        </p:txBody>
      </p:sp>
      <p:sp>
        <p:nvSpPr>
          <p:cNvPr id="9" name="baseline-footer">
            <a:extLst xmlns:a="http://schemas.openxmlformats.org/drawingml/2006/main">
              <a:ext uri="{FF2B5EF4-FFF2-40B4-BE49-F238E27FC236}">
                <a16:creationId xmlns:a16="http://schemas.microsoft.com/office/drawing/2014/main" id="{30D5387D-D6D8-4FAC-B266-D62A73A5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Local run, 10 Jul 2026; latency after index load. Results are not comparable across hardware without rerun.</a:t>
            </a:r>
          </a:p>
        </p:txBody>
      </p:sp>
    </p:spTree>
    <p:extLst>
      <p:ext uri="{BB962C8B-B14F-4D97-AF65-F5344CB8AC3E}">
        <p14:creationId xmlns:p14="http://schemas.microsoft.com/office/powerpoint/2010/main" val="380874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2">
            <a:extLst xmlns:a="http://schemas.openxmlformats.org/drawingml/2006/main">
              <a:ext uri="{FF2B5EF4-FFF2-40B4-BE49-F238E27FC236}">
                <a16:creationId xmlns:a16="http://schemas.microsoft.com/office/drawing/2014/main" id="{15E230C3-63E5-48C9-9AF4-F426A12B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ЕДИНСТВЕННЫЙ БЛОКЕР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26F3B81A-523C-4924-AF9E-B8C17F69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Dense-метрики требуют проверки матрицы</a:t>
            </a:r>
          </a:p>
        </p:txBody>
      </p:sp>
      <p:sp>
        <p:nvSpPr>
          <p:cNvPr id="3" name="rule-42-148">
            <a:extLst xmlns:a="http://schemas.openxmlformats.org/drawingml/2006/main">
              <a:ext uri="{FF2B5EF4-FFF2-40B4-BE49-F238E27FC236}">
                <a16:creationId xmlns:a16="http://schemas.microsoft.com/office/drawing/2014/main" id="{565ED8F8-74B0-4700-BA16-04172EF4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B85FAB95-2253-4F89-B001-3542F2AE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16B"/>
                </a:solidFill>
              </a:defRPr>
            </a:pPr>
            <a:r>
              <a:rPr sz="825" b="0">
                <a:solidFill>
                  <a:srgbClr val="5B616B"/>
                </a:solidFill>
              </a:rPr>
              <a:t>12</a:t>
            </a:r>
          </a:p>
        </p:txBody>
      </p:sp>
      <p:sp>
        <p:nvSpPr>
          <p:cNvPr id="5" name="missing-d">
            <a:extLst xmlns:a="http://schemas.openxmlformats.org/drawingml/2006/main">
              <a:ext uri="{FF2B5EF4-FFF2-40B4-BE49-F238E27FC236}">
                <a16:creationId xmlns:a16="http://schemas.microsoft.com/office/drawing/2014/main" id="{1D3692E2-771A-43BB-A056-5614EBF1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3D8DFF"/>
                </a:solidFill>
              </a:defRPr>
            </a:pPr>
            <a:r>
              <a:rPr sz="6150" b="1">
                <a:solidFill>
                  <a:srgbClr val="3D8DFF"/>
                </a:solidFill>
              </a:rPr>
              <a:t>D = ?</a:t>
            </a:r>
          </a:p>
        </p:txBody>
      </p:sp>
      <p:sp>
        <p:nvSpPr>
          <p:cNvPr id="6" name="missing-note">
            <a:extLst xmlns:a="http://schemas.openxmlformats.org/drawingml/2006/main">
              <a:ext uri="{FF2B5EF4-FFF2-40B4-BE49-F238E27FC236}">
                <a16:creationId xmlns:a16="http://schemas.microsoft.com/office/drawing/2014/main" id="{DEB4D02A-A322-4DB5-8F32-61AA1E3E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Файл embeddings_v1.npy</a:t>
            </a:r>
          </a:p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не был доступен в среде.</a:t>
            </a:r>
          </a:p>
        </p:txBody>
      </p:sp>
      <p:sp>
        <p:nvSpPr>
          <p:cNvPr id="7" name="rule-570-205">
            <a:extLst xmlns:a="http://schemas.openxmlformats.org/drawingml/2006/main">
              <a:ext uri="{FF2B5EF4-FFF2-40B4-BE49-F238E27FC236}">
                <a16:creationId xmlns:a16="http://schemas.microsoft.com/office/drawing/2014/main" id="{1C493FA6-1B7F-4198-9EC9-1068ADC6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52625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heck-1">
            <a:extLst xmlns:a="http://schemas.openxmlformats.org/drawingml/2006/main">
              <a:ext uri="{FF2B5EF4-FFF2-40B4-BE49-F238E27FC236}">
                <a16:creationId xmlns:a16="http://schemas.microsoft.com/office/drawing/2014/main" id="{A7442E8B-40F4-4066-99C9-AEDEB353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01  shape = (511961, D)</a:t>
            </a:r>
          </a:p>
        </p:txBody>
      </p:sp>
      <p:sp>
        <p:nvSpPr>
          <p:cNvPr id="9" name="check-2">
            <a:extLst xmlns:a="http://schemas.openxmlformats.org/drawingml/2006/main">
              <a:ext uri="{FF2B5EF4-FFF2-40B4-BE49-F238E27FC236}">
                <a16:creationId xmlns:a16="http://schemas.microsoft.com/office/drawing/2014/main" id="{D0C36DF4-8480-4396-88BE-BDE0FB9E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861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02  dtype = float32</a:t>
            </a:r>
          </a:p>
        </p:txBody>
      </p:sp>
      <p:sp>
        <p:nvSpPr>
          <p:cNvPr id="10" name="check-3">
            <a:extLst xmlns:a="http://schemas.openxmlformats.org/drawingml/2006/main">
              <a:ext uri="{FF2B5EF4-FFF2-40B4-BE49-F238E27FC236}">
                <a16:creationId xmlns:a16="http://schemas.microsoft.com/office/drawing/2014/main" id="{7E1AF156-91BF-425E-8DE1-D0E2D52B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03  query model = document model</a:t>
            </a:r>
          </a:p>
        </p:txBody>
      </p:sp>
      <p:sp>
        <p:nvSpPr>
          <p:cNvPr id="11" name="missing-conclusion">
            <a:extLst xmlns:a="http://schemas.openxmlformats.org/drawingml/2006/main">
              <a:ext uri="{FF2B5EF4-FFF2-40B4-BE49-F238E27FC236}">
                <a16:creationId xmlns:a16="http://schemas.microsoft.com/office/drawing/2014/main" id="{82CE1233-5059-4E74-B6B2-94938081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Без этих трёх проверок dense-метрика может выглядеть правдоподобно и быть неверной.</a:t>
            </a:r>
          </a:p>
        </p:txBody>
      </p:sp>
      <p:sp>
        <p:nvSpPr>
          <p:cNvPr id="12" name="missing-footer">
            <a:extLst xmlns:a="http://schemas.openxmlformats.org/drawingml/2006/main">
              <a:ext uri="{FF2B5EF4-FFF2-40B4-BE49-F238E27FC236}">
                <a16:creationId xmlns:a16="http://schemas.microsoft.com/office/drawing/2014/main" id="{F18EB3B1-B146-40BC-BE18-72FE10C2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Проверка автоматизирована: python scripts/validate_inputs.py --require-embeddings</a:t>
            </a:r>
          </a:p>
        </p:txBody>
      </p:sp>
    </p:spTree>
    <p:extLst>
      <p:ext uri="{BB962C8B-B14F-4D97-AF65-F5344CB8AC3E}">
        <p14:creationId xmlns:p14="http://schemas.microsoft.com/office/powerpoint/2010/main" val="16619215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3">
            <a:extLst xmlns:a="http://schemas.openxmlformats.org/drawingml/2006/main">
              <a:ext uri="{FF2B5EF4-FFF2-40B4-BE49-F238E27FC236}">
                <a16:creationId xmlns:a16="http://schemas.microsoft.com/office/drawing/2014/main" id="{3B665126-E3F2-41BB-876A-D0E3E9A1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HARDWARE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0D4EC88F-DD77-41DF-A712-A7790FB1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Сырые векторы — лишь нижняя граница памяти</a:t>
            </a:r>
          </a:p>
        </p:txBody>
      </p:sp>
      <p:sp>
        <p:nvSpPr>
          <p:cNvPr id="3" name="rule-42-148">
            <a:extLst xmlns:a="http://schemas.openxmlformats.org/drawingml/2006/main">
              <a:ext uri="{FF2B5EF4-FFF2-40B4-BE49-F238E27FC236}">
                <a16:creationId xmlns:a16="http://schemas.microsoft.com/office/drawing/2014/main" id="{9275CB96-5AE6-4D2A-85D0-6044EB62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43BF09FD-BC03-4BEB-B3E7-1D58206E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16B"/>
                </a:solidFill>
              </a:defRPr>
            </a:pPr>
            <a:r>
              <a:rPr sz="825" b="0">
                <a:solidFill>
                  <a:srgbClr val="5B616B"/>
                </a:solidFill>
              </a:rPr>
              <a:t>13</a:t>
            </a:r>
          </a:p>
        </p:txBody>
      </p:sp>
      <p:sp>
        <p:nvSpPr>
          <p:cNvPr id="5" name="hw-384">
            <a:extLst xmlns:a="http://schemas.openxmlformats.org/drawingml/2006/main">
              <a:ext uri="{FF2B5EF4-FFF2-40B4-BE49-F238E27FC236}">
                <a16:creationId xmlns:a16="http://schemas.microsoft.com/office/drawing/2014/main" id="{06AF1857-8DF9-40BF-8083-D5867E84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49530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w-384-label">
            <a:extLst xmlns:a="http://schemas.openxmlformats.org/drawingml/2006/main">
              <a:ext uri="{FF2B5EF4-FFF2-40B4-BE49-F238E27FC236}">
                <a16:creationId xmlns:a16="http://schemas.microsoft.com/office/drawing/2014/main" id="{D527D1B5-70EC-4268-9BAE-A93B0771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288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384-D · FLOAT32</a:t>
            </a:r>
          </a:p>
        </p:txBody>
      </p:sp>
      <p:sp>
        <p:nvSpPr>
          <p:cNvPr id="7" name="hw-384-value">
            <a:extLst xmlns:a="http://schemas.openxmlformats.org/drawingml/2006/main">
              <a:ext uri="{FF2B5EF4-FFF2-40B4-BE49-F238E27FC236}">
                <a16:creationId xmlns:a16="http://schemas.microsoft.com/office/drawing/2014/main" id="{C531A3AF-4D76-47C5-9772-B680BFF3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0,732 GiB</a:t>
            </a:r>
          </a:p>
        </p:txBody>
      </p:sp>
      <p:sp>
        <p:nvSpPr>
          <p:cNvPr id="8" name="hw-384-int8">
            <a:extLst xmlns:a="http://schemas.openxmlformats.org/drawingml/2006/main">
              <a:ext uri="{FF2B5EF4-FFF2-40B4-BE49-F238E27FC236}">
                <a16:creationId xmlns:a16="http://schemas.microsoft.com/office/drawing/2014/main" id="{5C5B44D0-7CBF-4D75-BBD2-9CDED2A2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int8 lower bound: 0,183 GiB</a:t>
            </a:r>
          </a:p>
        </p:txBody>
      </p:sp>
      <p:sp>
        <p:nvSpPr>
          <p:cNvPr id="9" name="hw-768">
            <a:extLst xmlns:a="http://schemas.openxmlformats.org/drawingml/2006/main">
              <a:ext uri="{FF2B5EF4-FFF2-40B4-BE49-F238E27FC236}">
                <a16:creationId xmlns:a16="http://schemas.microsoft.com/office/drawing/2014/main" id="{F128644E-52AD-43B2-BBDF-BC6F2182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60769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w-768-label">
            <a:extLst xmlns:a="http://schemas.openxmlformats.org/drawingml/2006/main">
              <a:ext uri="{FF2B5EF4-FFF2-40B4-BE49-F238E27FC236}">
                <a16:creationId xmlns:a16="http://schemas.microsoft.com/office/drawing/2014/main" id="{09C8360F-018C-4263-A12B-DD2CA754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288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768-D · FLOAT32</a:t>
            </a:r>
          </a:p>
        </p:txBody>
      </p:sp>
      <p:sp>
        <p:nvSpPr>
          <p:cNvPr id="11" name="hw-768-value">
            <a:extLst xmlns:a="http://schemas.openxmlformats.org/drawingml/2006/main">
              <a:ext uri="{FF2B5EF4-FFF2-40B4-BE49-F238E27FC236}">
                <a16:creationId xmlns:a16="http://schemas.microsoft.com/office/drawing/2014/main" id="{C2BCC838-A26F-4201-9535-B3104CD6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003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1,465 GiB</a:t>
            </a:r>
          </a:p>
        </p:txBody>
      </p:sp>
      <p:sp>
        <p:nvSpPr>
          <p:cNvPr id="12" name="hw-768-int8">
            <a:extLst xmlns:a="http://schemas.openxmlformats.org/drawingml/2006/main">
              <a:ext uri="{FF2B5EF4-FFF2-40B4-BE49-F238E27FC236}">
                <a16:creationId xmlns:a16="http://schemas.microsoft.com/office/drawing/2014/main" id="{46FF291C-0B7D-40D3-A665-1A907A89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005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16B"/>
                </a:solidFill>
              </a:defRPr>
            </a:pPr>
            <a:r>
              <a:rPr sz="1575" b="0">
                <a:solidFill>
                  <a:srgbClr val="5B616B"/>
                </a:solidFill>
              </a:rPr>
              <a:t>int8 lower bound: 0,366 GiB</a:t>
            </a:r>
          </a:p>
        </p:txBody>
      </p:sp>
      <p:sp>
        <p:nvSpPr>
          <p:cNvPr id="13" name="hw-overhead">
            <a:extLst xmlns:a="http://schemas.openxmlformats.org/drawingml/2006/main">
              <a:ext uri="{FF2B5EF4-FFF2-40B4-BE49-F238E27FC236}">
                <a16:creationId xmlns:a16="http://schemas.microsoft.com/office/drawing/2014/main" id="{929BC391-0F15-4AA7-A91D-CA6B4C36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+ payload + HNSW edges + segments + temporary indexing memory</a:t>
            </a:r>
          </a:p>
        </p:txBody>
      </p:sp>
      <p:sp>
        <p:nvSpPr>
          <p:cNvPr id="14" name="hardware-footer">
            <a:extLst xmlns:a="http://schemas.openxmlformats.org/drawingml/2006/main">
              <a:ext uri="{FF2B5EF4-FFF2-40B4-BE49-F238E27FC236}">
                <a16:creationId xmlns:a16="http://schemas.microsoft.com/office/drawing/2014/main" id="{7180AC55-C849-4F62-BCDA-3CAA4B05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Exact byte calculation for 511 961 rows; real Qdrant memory must be measured with docker stats.</a:t>
            </a:r>
          </a:p>
        </p:txBody>
      </p:sp>
    </p:spTree>
    <p:extLst>
      <p:ext uri="{BB962C8B-B14F-4D97-AF65-F5344CB8AC3E}">
        <p14:creationId xmlns:p14="http://schemas.microsoft.com/office/powerpoint/2010/main" val="6848725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4">
            <a:extLst xmlns:a="http://schemas.openxmlformats.org/drawingml/2006/main">
              <a:ext uri="{FF2B5EF4-FFF2-40B4-BE49-F238E27FC236}">
                <a16:creationId xmlns:a16="http://schemas.microsoft.com/office/drawing/2014/main" id="{85B5DCB5-CDF0-4CF1-8D99-2C6A808A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16B"/>
                </a:solidFill>
              </a:defRPr>
            </a:pPr>
            <a:r>
              <a:rPr sz="975" b="1">
                <a:solidFill>
                  <a:srgbClr val="5B616B"/>
                </a:solidFill>
              </a:rPr>
              <a:t>ГОТОВНОСТЬ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305AF73C-1A04-463C-9A92-4BE2737E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23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</a:defRPr>
            </a:pPr>
            <a:r>
              <a:rPr sz="3450" b="1">
                <a:solidFill>
                  <a:srgbClr val="000000"/>
                </a:solidFill>
              </a:rPr>
              <a:t>Сервис готов; dense-демо ждёт только .npy</a:t>
            </a:r>
          </a:p>
        </p:txBody>
      </p:sp>
      <p:sp>
        <p:nvSpPr>
          <p:cNvPr id="3" name="rule-42-148">
            <a:extLst xmlns:a="http://schemas.openxmlformats.org/drawingml/2006/main">
              <a:ext uri="{FF2B5EF4-FFF2-40B4-BE49-F238E27FC236}">
                <a16:creationId xmlns:a16="http://schemas.microsoft.com/office/drawing/2014/main" id="{473330B9-E1E8-4126-A0CF-F6D11ACC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D8A97A7C-4CE0-408A-B50E-37EB5C03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16B"/>
                </a:solidFill>
              </a:defRPr>
            </a:pPr>
            <a:r>
              <a:rPr sz="825" b="0">
                <a:solidFill>
                  <a:srgbClr val="5B616B"/>
                </a:solidFill>
              </a:rPr>
              <a:t>14</a:t>
            </a:r>
          </a:p>
        </p:txBody>
      </p:sp>
      <p:sp>
        <p:nvSpPr>
          <p:cNvPr id="5" name="stat-label-42">
            <a:extLst xmlns:a="http://schemas.openxmlformats.org/drawingml/2006/main">
              <a:ext uri="{FF2B5EF4-FFF2-40B4-BE49-F238E27FC236}">
                <a16:creationId xmlns:a16="http://schemas.microsoft.com/office/drawing/2014/main" id="{ADBC9785-CA86-49E4-9C0C-97D87942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КОД</a:t>
            </a:r>
          </a:p>
        </p:txBody>
      </p:sp>
      <p:sp>
        <p:nvSpPr>
          <p:cNvPr id="6" name="stat-value-42">
            <a:extLst xmlns:a="http://schemas.openxmlformats.org/drawingml/2006/main">
              <a:ext uri="{FF2B5EF4-FFF2-40B4-BE49-F238E27FC236}">
                <a16:creationId xmlns:a16="http://schemas.microsoft.com/office/drawing/2014/main" id="{767EF9B9-87A3-4E9D-8F93-35C3C59B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</a:defRPr>
            </a:pPr>
            <a:r>
              <a:rPr sz="480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7" name="stat-detail-42">
            <a:extLst xmlns:a="http://schemas.openxmlformats.org/drawingml/2006/main">
              <a:ext uri="{FF2B5EF4-FFF2-40B4-BE49-F238E27FC236}">
                <a16:creationId xmlns:a16="http://schemas.microsoft.com/office/drawing/2014/main" id="{52196669-0E19-4F90-8969-81CF5E54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режимов поиска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в одном API</a:t>
            </a:r>
          </a:p>
        </p:txBody>
      </p:sp>
      <p:sp>
        <p:nvSpPr>
          <p:cNvPr id="8" name="stat-label-442">
            <a:extLst xmlns:a="http://schemas.openxmlformats.org/drawingml/2006/main">
              <a:ext uri="{FF2B5EF4-FFF2-40B4-BE49-F238E27FC236}">
                <a16:creationId xmlns:a16="http://schemas.microsoft.com/office/drawing/2014/main" id="{436F77A8-AE78-48BB-B726-EA4A09A2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38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ТЕСТЫ</a:t>
            </a:r>
          </a:p>
        </p:txBody>
      </p:sp>
      <p:sp>
        <p:nvSpPr>
          <p:cNvPr id="9" name="stat-value-442">
            <a:extLst xmlns:a="http://schemas.openxmlformats.org/drawingml/2006/main">
              <a:ext uri="{FF2B5EF4-FFF2-40B4-BE49-F238E27FC236}">
                <a16:creationId xmlns:a16="http://schemas.microsoft.com/office/drawing/2014/main" id="{EFFAC38F-DCFF-43D1-B27C-F7924CD1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479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</a:defRPr>
            </a:pPr>
            <a:r>
              <a:rPr sz="4800" b="1">
                <a:solidFill>
                  <a:srgbClr val="000000"/>
                </a:solidFill>
              </a:rPr>
              <a:t>10/10</a:t>
            </a:r>
          </a:p>
        </p:txBody>
      </p:sp>
      <p:sp>
        <p:nvSpPr>
          <p:cNvPr id="10" name="stat-detail-442">
            <a:extLst xmlns:a="http://schemas.openxmlformats.org/drawingml/2006/main">
              <a:ext uri="{FF2B5EF4-FFF2-40B4-BE49-F238E27FC236}">
                <a16:creationId xmlns:a16="http://schemas.microsoft.com/office/drawing/2014/main" id="{EA06B25C-6FA7-485E-B6E6-74FF417C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81425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включая Qdrant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in-memory round trip</a:t>
            </a:r>
          </a:p>
        </p:txBody>
      </p:sp>
      <p:sp>
        <p:nvSpPr>
          <p:cNvPr id="11" name="stat-label-842">
            <a:extLst xmlns:a="http://schemas.openxmlformats.org/drawingml/2006/main">
              <a:ext uri="{FF2B5EF4-FFF2-40B4-BE49-F238E27FC236}">
                <a16:creationId xmlns:a16="http://schemas.microsoft.com/office/drawing/2014/main" id="{B1DD47F9-72B4-498F-A132-D6082DC5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38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616B"/>
                </a:solidFill>
              </a:defRPr>
            </a:pPr>
            <a:r>
              <a:rPr sz="1200" b="1">
                <a:solidFill>
                  <a:srgbClr val="5B616B"/>
                </a:solidFill>
              </a:rPr>
              <a:t>BM25 INDEX</a:t>
            </a:r>
          </a:p>
        </p:txBody>
      </p:sp>
      <p:sp>
        <p:nvSpPr>
          <p:cNvPr id="12" name="stat-value-842">
            <a:extLst xmlns:a="http://schemas.openxmlformats.org/drawingml/2006/main">
              <a:ext uri="{FF2B5EF4-FFF2-40B4-BE49-F238E27FC236}">
                <a16:creationId xmlns:a16="http://schemas.microsoft.com/office/drawing/2014/main" id="{70BB72C0-CFB9-43A2-8FB1-62470BF5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479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</a:defRPr>
            </a:pPr>
            <a:r>
              <a:rPr sz="4800" b="1">
                <a:solidFill>
                  <a:srgbClr val="000000"/>
                </a:solidFill>
              </a:rPr>
              <a:t>512k</a:t>
            </a:r>
          </a:p>
        </p:txBody>
      </p:sp>
      <p:sp>
        <p:nvSpPr>
          <p:cNvPr id="13" name="stat-detail-842">
            <a:extLst xmlns:a="http://schemas.openxmlformats.org/drawingml/2006/main">
              <a:ext uri="{FF2B5EF4-FFF2-40B4-BE49-F238E27FC236}">
                <a16:creationId xmlns:a16="http://schemas.microsoft.com/office/drawing/2014/main" id="{E006CBB9-BF88-4557-8526-4108AEA4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81425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строк · 89 809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термов</a:t>
            </a:r>
          </a:p>
        </p:txBody>
      </p:sp>
      <p:sp>
        <p:nvSpPr>
          <p:cNvPr id="14" name="ready-components">
            <a:extLst xmlns:a="http://schemas.openxmlformats.org/drawingml/2006/main">
              <a:ext uri="{FF2B5EF4-FFF2-40B4-BE49-F238E27FC236}">
                <a16:creationId xmlns:a16="http://schemas.microsoft.com/office/drawing/2014/main" id="{3B61FB58-D848-4069-87A8-DDB85826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FastAPI · Web UI · Docker Compose · PCA · int8 · exact/HNSW benchmark · per-query logs</a:t>
            </a:r>
          </a:p>
        </p:txBody>
      </p:sp>
      <p:sp>
        <p:nvSpPr>
          <p:cNvPr id="15" name="readiness-footer">
            <a:extLst xmlns:a="http://schemas.openxmlformats.org/drawingml/2006/main">
              <a:ext uri="{FF2B5EF4-FFF2-40B4-BE49-F238E27FC236}">
                <a16:creationId xmlns:a16="http://schemas.microsoft.com/office/drawing/2014/main" id="{24DE6751-1C0F-4A8E-BC81-344C159F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16B"/>
                </a:solidFill>
              </a:defRPr>
            </a:pPr>
            <a:r>
              <a:rPr sz="750" b="0">
                <a:solidFill>
                  <a:srgbClr val="5B616B"/>
                </a:solidFill>
              </a:rPr>
              <a:t>Verified locally: input audit, full BM25 build/evaluation, API BM25 request, demo hybrid search.</a:t>
            </a:r>
          </a:p>
        </p:txBody>
      </p:sp>
    </p:spTree>
    <p:extLst>
      <p:ext uri="{BB962C8B-B14F-4D97-AF65-F5344CB8AC3E}">
        <p14:creationId xmlns:p14="http://schemas.microsoft.com/office/powerpoint/2010/main" val="17441902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5A02B913-9003-49EC-99FF-23F51A8B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16B"/>
                </a:solidFill>
              </a:defRPr>
            </a:pPr>
            <a:r>
              <a:rPr sz="1275" b="1">
                <a:solidFill>
                  <a:srgbClr val="5B616B"/>
                </a:solidFill>
              </a:rPr>
              <a:t>NEXT ACTION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8E236B0E-2709-4930-A05D-FA68A6E9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Три команды отделяют</a:t>
            </a:r>
          </a:p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готовый код от честного сравнения</a:t>
            </a:r>
          </a:p>
        </p:txBody>
      </p:sp>
      <p:sp>
        <p:nvSpPr>
          <p:cNvPr id="3" name="close-1">
            <a:extLst xmlns:a="http://schemas.openxmlformats.org/drawingml/2006/main">
              <a:ext uri="{FF2B5EF4-FFF2-40B4-BE49-F238E27FC236}">
                <a16:creationId xmlns:a16="http://schemas.microsoft.com/office/drawing/2014/main" id="{49C4898B-B673-48FD-BF50-0156B7E2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01  validate_inputs.py</a:t>
            </a:r>
          </a:p>
        </p:txBody>
      </p:sp>
      <p:sp>
        <p:nvSpPr>
          <p:cNvPr id="4" name="close-2">
            <a:extLst xmlns:a="http://schemas.openxmlformats.org/drawingml/2006/main">
              <a:ext uri="{FF2B5EF4-FFF2-40B4-BE49-F238E27FC236}">
                <a16:creationId xmlns:a16="http://schemas.microsoft.com/office/drawing/2014/main" id="{D1977CB7-FC90-4626-9701-C8FE4ED1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576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02  index_embeddings.py</a:t>
            </a:r>
          </a:p>
        </p:txBody>
      </p:sp>
      <p:sp>
        <p:nvSpPr>
          <p:cNvPr id="5" name="close-3">
            <a:extLst xmlns:a="http://schemas.openxmlformats.org/drawingml/2006/main">
              <a:ext uri="{FF2B5EF4-FFF2-40B4-BE49-F238E27FC236}">
                <a16:creationId xmlns:a16="http://schemas.microsoft.com/office/drawing/2014/main" id="{DE29C804-C9B3-4E4A-B01A-DEAF6008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</a:defRPr>
            </a:pPr>
            <a:r>
              <a:rPr sz="1875" b="1">
                <a:solidFill>
                  <a:srgbClr val="3D8DFF"/>
                </a:solidFill>
              </a:rPr>
              <a:t>03  evaluate.py</a:t>
            </a:r>
          </a:p>
        </p:txBody>
      </p:sp>
      <p:sp>
        <p:nvSpPr>
          <p:cNvPr id="6" name="rule-42-485">
            <a:extLst xmlns:a="http://schemas.openxmlformats.org/drawingml/2006/main">
              <a:ext uri="{FF2B5EF4-FFF2-40B4-BE49-F238E27FC236}">
                <a16:creationId xmlns:a16="http://schemas.microsoft.com/office/drawing/2014/main" id="{8701FCF4-CCD9-487E-834B-9C6D2934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outcome">
            <a:extLst xmlns:a="http://schemas.openxmlformats.org/drawingml/2006/main">
              <a:ext uri="{FF2B5EF4-FFF2-40B4-BE49-F238E27FC236}">
                <a16:creationId xmlns:a16="http://schemas.microsoft.com/office/drawing/2014/main" id="{FEF6F7EF-F7CA-422C-B4B8-2ED40F9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После прогона выбираем лучший режим по nDCG/Recall и latency — даже если гипотеза v2 не победит.</a:t>
            </a:r>
          </a:p>
        </p:txBody>
      </p:sp>
      <p:sp>
        <p:nvSpPr>
          <p:cNvPr id="8" name="close-page">
            <a:extLst xmlns:a="http://schemas.openxmlformats.org/drawingml/2006/main">
              <a:ext uri="{FF2B5EF4-FFF2-40B4-BE49-F238E27FC236}">
                <a16:creationId xmlns:a16="http://schemas.microsoft.com/office/drawing/2014/main" id="{F645113D-D9EA-49EC-9D67-96924270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2937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16B"/>
                </a:solidFill>
              </a:defRPr>
            </a:pPr>
            <a:r>
              <a:rPr sz="825" b="0">
                <a:solidFill>
                  <a:srgbClr val="5B616B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30773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2026-07-10T08:10:33.5270000Z</dcterms:created>
  <dcterms:modified xsi:type="dcterms:W3CDTF">2026-07-10T08:10:33.5270000Z</dcterms:modified>
</coreProperties>
</file>